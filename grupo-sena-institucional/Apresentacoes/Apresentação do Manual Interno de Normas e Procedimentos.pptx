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0" r:id="rId4"/>
    <p:sldId id="259" r:id="rId5"/>
    <p:sldId id="269" r:id="rId6"/>
    <p:sldId id="258" r:id="rId7"/>
    <p:sldId id="270" r:id="rId8"/>
    <p:sldId id="262" r:id="rId9"/>
    <p:sldId id="265" r:id="rId10"/>
    <p:sldId id="264" r:id="rId11"/>
    <p:sldId id="263" r:id="rId12"/>
    <p:sldId id="268" r:id="rId13"/>
    <p:sldId id="267" r:id="rId14"/>
    <p:sldId id="274" r:id="rId15"/>
    <p:sldId id="275" r:id="rId16"/>
    <p:sldId id="276" r:id="rId17"/>
    <p:sldId id="266" r:id="rId18"/>
    <p:sldId id="272" r:id="rId19"/>
    <p:sldId id="277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3D05"/>
    <a:srgbClr val="FF0066"/>
    <a:srgbClr val="6613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2CC79-27A0-4FEC-A39E-5405A4A88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EE14AC-8F06-4114-93EB-2CDDF30452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8C7D48-C02C-4DA5-94F6-694D7D0D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3D7462-5305-4EFE-BA9E-F0DDD373E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2CB84A-EE0F-4E44-A33E-6604C5D2D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268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C6DC1-783E-4058-96EC-F8F84B8A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A44DE0-C2EF-41C4-91B4-11714F470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98A246-DB82-4D31-86D2-760551930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6621DB-9AF8-451E-A9BC-DC79ECF44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4B427B-28AD-402C-9EF1-4C489ED70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26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A61F8-7834-40B3-8798-0C8F79B88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3E2010D-E463-4D56-BC86-DEB344C85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EB67D3-FF25-4579-A490-4F9F473FE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81FE9B-8648-4DD1-9B8A-9DFE88975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4074AD-B559-4A99-8CCA-9FD5603F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482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0E673-F8C3-4336-8782-8F5A3CFD3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8F7E3FF-350A-4C72-96FC-4AE8A46B6B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FA91DD-D74A-44EC-B085-29CAB4DCA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B71B0FE-BB08-4E5A-8AB6-48CF30641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198B13-1E0C-462C-BBF1-DF7D76F61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DAF7E5-38EE-4AE1-8ABA-2FB8535C9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238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3B6D9-3E2B-414F-AC21-4C283E45B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57C176-5205-43D7-8890-41D9A7736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B653BD-D5B0-4349-91DF-4693B59DD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CC721A1-3B56-45BA-B920-B0B036A90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121B2F-4DBC-4B97-A19E-2DAD4B105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ABA8F59-2DF0-4AD1-BE30-DDC896771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D0F068-2044-4FD9-BA48-730339C8A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ABF9EAD-08B9-44B7-AD1C-A5FD344A9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045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CE431-05FD-417E-9562-53BEAEDD9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BC58F1-A296-4A41-B7D0-3FD97166D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3862E88-BB55-43A9-88B3-A414E8AE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1D42AC-474F-4DFB-B4D5-B608157E0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784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68EFE35-23A2-4302-932E-E6E66B90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B4D3B3D-2DB7-4F55-A25C-0794B7028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59C2AAF-C1E3-4406-A098-A0D49657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290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AFC2C-139C-4D1A-8576-62307535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E15FF5E-2B99-43FD-98F9-7AECCABB7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E02FCBD-D4D7-4AAB-9D70-0B006ACD5A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A83DE4-3B60-49E5-B247-A0EA52A56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9CCBDC-58EB-4422-8B36-731BF1D7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430D86-BEE9-42D1-A8E7-0396B5954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62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B6148-C126-472D-B74E-142CCF881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E90038A-ED7B-4F75-B683-4F26D6B7D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5E4C826-3128-40C2-808E-554F5D38D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8A07F9-4822-458E-9902-6F70A5F1B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A9496D-5D26-4E14-98A9-AAFB05B5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7DC045-B330-437B-9309-1BF15BF8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3483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29BD0-D875-4B4E-950E-9C02EFD0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0900474-0658-4F0E-87BB-CB3579C8B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BC6BCB-77B6-48F3-B91D-ED648CEB9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F92EB3-3689-4E35-8F19-36CE891F2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79A60E-9BB8-45B8-B36A-56DC7CF0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7066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03CDA6E-E1B6-40F7-9429-74B797438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9B2AFDD-6F38-4C92-974B-844501B72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84954D-687D-4933-B676-0C55BD79B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005C64-8F63-4EE0-AE71-679716B52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8450A9-55DD-4CED-8BFE-EA79DB8F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35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2D73A8D-AAB1-411A-B87F-4647661C8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399985-397E-4995-ADE8-CBEF31341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5E85EE-F0EE-42B3-841E-C277899FB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ABD603-AF25-44DD-8564-419F27847C4D}" type="datetimeFigureOut">
              <a:rPr lang="pt-BR" smtClean="0"/>
              <a:t>07/01/2020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8FF9CB-399A-4A10-818A-4117EA60F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D5E779-2FF7-4E06-837C-AFB5C46AD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75DFA-85E8-4E56-BE89-28D6DE494E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409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6882" y="280374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ítulo 15">
            <a:extLst>
              <a:ext uri="{FF2B5EF4-FFF2-40B4-BE49-F238E27FC236}">
                <a16:creationId xmlns:a16="http://schemas.microsoft.com/office/drawing/2014/main" id="{59FD5A57-94B8-47FF-A264-D21DB359E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fontAlgn="auto">
              <a:spcAft>
                <a:spcPts val="0"/>
              </a:spcAft>
              <a:buClrTx/>
              <a:buSzTx/>
              <a:tabLst/>
              <a:defRPr/>
            </a:pPr>
            <a:r>
              <a:rPr lang="en-US" sz="3000" b="1" spc="600">
                <a:solidFill>
                  <a:srgbClr val="FFFFFF"/>
                </a:solidFill>
              </a:rPr>
              <a:t>“MANUAL DE </a:t>
            </a:r>
            <a:r>
              <a:rPr kumimoji="0" lang="en-US" sz="3000" b="1" i="0" u="none" strike="noStrike" cap="none" spc="6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INTEGRAÇÃO GERAL DE NORMAS E PROCEDIMENTOS INTERNOS”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30078" y="1522292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m 2" descr="Fundo preto com letras brancas&#10;&#10;Descrição gerada automaticamente">
            <a:extLst>
              <a:ext uri="{FF2B5EF4-FFF2-40B4-BE49-F238E27FC236}">
                <a16:creationId xmlns:a16="http://schemas.microsoft.com/office/drawing/2014/main" id="{11F6154E-34B0-4EAD-B24E-C7134FD42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07" y="2426818"/>
            <a:ext cx="3997637" cy="3997637"/>
          </a:xfrm>
          <a:prstGeom prst="rect">
            <a:avLst/>
          </a:prstGeom>
        </p:spPr>
      </p:pic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B146403-F3D6-484B-B2ED-97F9565D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16278" y="2596836"/>
            <a:ext cx="0" cy="3657600"/>
          </a:xfrm>
          <a:prstGeom prst="line">
            <a:avLst/>
          </a:prstGeom>
          <a:ln w="101600" cmpd="dbl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Espaço Reservado para Conteúdo 6" descr="Uma imagem contendo quebra-cabeça&#10;&#10;Descrição gerada automaticamente">
            <a:extLst>
              <a:ext uri="{FF2B5EF4-FFF2-40B4-BE49-F238E27FC236}">
                <a16:creationId xmlns:a16="http://schemas.microsoft.com/office/drawing/2014/main" id="{D9F38191-BED7-4113-A275-A37816A2DD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073" y="2604724"/>
            <a:ext cx="5455917" cy="364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75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7">
            <a:extLst>
              <a:ext uri="{FF2B5EF4-FFF2-40B4-BE49-F238E27FC236}">
                <a16:creationId xmlns:a16="http://schemas.microsoft.com/office/drawing/2014/main" id="{F4F2FC05-7D27-410F-BDA9-ADF483136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29">
            <a:extLst>
              <a:ext uri="{FF2B5EF4-FFF2-40B4-BE49-F238E27FC236}">
                <a16:creationId xmlns:a16="http://schemas.microsoft.com/office/drawing/2014/main" id="{9080D120-BD54-46E1-BA37-82F5E8089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9573" y="633619"/>
            <a:ext cx="5457817" cy="5495925"/>
          </a:xfrm>
          <a:prstGeom prst="rect">
            <a:avLst/>
          </a:prstGeom>
          <a:ln w="9525">
            <a:solidFill>
              <a:srgbClr val="EFEFEF"/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391813CB-0712-478B-A035-A6B846780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976" y="798293"/>
            <a:ext cx="2936928" cy="7040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fontAlgn="auto">
              <a:lnSpc>
                <a:spcPct val="114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4000" b="1" i="0" u="none" strike="noStrike" kern="1200" cap="none" spc="60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GRUPO</a:t>
            </a:r>
          </a:p>
        </p:txBody>
      </p:sp>
      <p:sp>
        <p:nvSpPr>
          <p:cNvPr id="42" name="Rectangle 31">
            <a:extLst>
              <a:ext uri="{FF2B5EF4-FFF2-40B4-BE49-F238E27FC236}">
                <a16:creationId xmlns:a16="http://schemas.microsoft.com/office/drawing/2014/main" id="{81D83946-74FA-498A-AC80-9926F041B5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565" y="1181536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3" name="Rectangle 33">
            <a:extLst>
              <a:ext uri="{FF2B5EF4-FFF2-40B4-BE49-F238E27FC236}">
                <a16:creationId xmlns:a16="http://schemas.microsoft.com/office/drawing/2014/main" id="{5060D983-8B52-443A-8183-2A1DE0561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7456" y="2185416"/>
            <a:ext cx="4446484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0A5EEFA1-AAE2-4E21-B430-11DF82F15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6827" y="2308295"/>
            <a:ext cx="5283307" cy="434079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2050" dirty="0"/>
              <a:t>Mesmo que o nosso </a:t>
            </a:r>
            <a:r>
              <a:rPr lang="en-US" sz="2050" b="1" dirty="0"/>
              <a:t>time</a:t>
            </a:r>
            <a:r>
              <a:rPr lang="en-US" sz="2050" dirty="0"/>
              <a:t> ainda esteja em uma quantidade pequena de pessoas na equipe, </a:t>
            </a:r>
            <a:r>
              <a:rPr lang="en-US" sz="2050" b="1" dirty="0"/>
              <a:t>SOMOS TODOS uma família </a:t>
            </a:r>
            <a:r>
              <a:rPr lang="en-US" sz="2050" dirty="0"/>
              <a:t>e a nossa base precisa estar coesa, forte e bem preparada para a evolução que esperamos alcançar nos próximos anos, e assim, juntos, darmos continuidade a uma história que já é de sucesso.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endParaRPr lang="en-US" sz="2050" b="1" dirty="0"/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2050" b="1" dirty="0"/>
              <a:t>E para isso, precisamos de cada um de vocês junto no nosso propósito de sermos referência nacional em nossa área de atuação</a:t>
            </a:r>
            <a:r>
              <a:rPr lang="en-US" sz="2050" dirty="0"/>
              <a:t>!</a:t>
            </a:r>
          </a:p>
        </p:txBody>
      </p:sp>
      <p:pic>
        <p:nvPicPr>
          <p:cNvPr id="11" name="Espaço Reservado para Conteúdo 10" descr="Uma imagem contendo desenho&#10;&#10;Descrição gerada automaticamente">
            <a:extLst>
              <a:ext uri="{FF2B5EF4-FFF2-40B4-BE49-F238E27FC236}">
                <a16:creationId xmlns:a16="http://schemas.microsoft.com/office/drawing/2014/main" id="{9C7D7810-EB87-4D9D-8416-14FD2FC1845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" r="2494" b="-2"/>
          <a:stretch/>
        </p:blipFill>
        <p:spPr>
          <a:xfrm>
            <a:off x="6324599" y="10"/>
            <a:ext cx="5457817" cy="3337549"/>
          </a:xfrm>
          <a:prstGeom prst="rect">
            <a:avLst/>
          </a:prstGeom>
        </p:spPr>
      </p:pic>
      <p:pic>
        <p:nvPicPr>
          <p:cNvPr id="8" name="Espaço Reservado para Conteúdo 7" descr="Uma imagem contendo comida, desenho&#10;&#10;Descrição gerada automaticamente">
            <a:extLst>
              <a:ext uri="{FF2B5EF4-FFF2-40B4-BE49-F238E27FC236}">
                <a16:creationId xmlns:a16="http://schemas.microsoft.com/office/drawing/2014/main" id="{0F43F637-D7D5-40E0-89F8-65B9E3AA3A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25199"/>
          <a:stretch/>
        </p:blipFill>
        <p:spPr>
          <a:xfrm>
            <a:off x="6435114" y="3337559"/>
            <a:ext cx="5756875" cy="3520441"/>
          </a:xfrm>
          <a:prstGeom prst="rect">
            <a:avLst/>
          </a:prstGeom>
        </p:spPr>
      </p:pic>
      <p:sp>
        <p:nvSpPr>
          <p:cNvPr id="10" name="Título 8">
            <a:extLst>
              <a:ext uri="{FF2B5EF4-FFF2-40B4-BE49-F238E27FC236}">
                <a16:creationId xmlns:a16="http://schemas.microsoft.com/office/drawing/2014/main" id="{5ABA5E85-C6CF-44ED-A7D4-268BB506886F}"/>
              </a:ext>
            </a:extLst>
          </p:cNvPr>
          <p:cNvSpPr txBox="1">
            <a:spLocks/>
          </p:cNvSpPr>
          <p:nvPr/>
        </p:nvSpPr>
        <p:spPr>
          <a:xfrm>
            <a:off x="1995119" y="1228637"/>
            <a:ext cx="2334362" cy="8430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  <a:defRPr/>
            </a:pPr>
            <a:r>
              <a:rPr lang="en-US" sz="5000" b="1" spc="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SENA</a:t>
            </a:r>
          </a:p>
        </p:txBody>
      </p:sp>
    </p:spTree>
    <p:extLst>
      <p:ext uri="{BB962C8B-B14F-4D97-AF65-F5344CB8AC3E}">
        <p14:creationId xmlns:p14="http://schemas.microsoft.com/office/powerpoint/2010/main" val="583456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 build="p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5">
            <a:extLst>
              <a:ext uri="{FF2B5EF4-FFF2-40B4-BE49-F238E27FC236}">
                <a16:creationId xmlns:a16="http://schemas.microsoft.com/office/drawing/2014/main" id="{8AB5F7C5-3D16-4781-8278-81328DAD6011}"/>
              </a:ext>
            </a:extLst>
          </p:cNvPr>
          <p:cNvSpPr txBox="1">
            <a:spLocks/>
          </p:cNvSpPr>
          <p:nvPr/>
        </p:nvSpPr>
        <p:spPr>
          <a:xfrm>
            <a:off x="381263" y="1142894"/>
            <a:ext cx="5120114" cy="9150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b="1" spc="600" dirty="0"/>
              <a:t>NOSSO OBJETIVO</a:t>
            </a:r>
            <a:endParaRPr lang="en-US" b="1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6D768529-53DE-4A1C-873D-1F5D1B8E5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32229" y="2476240"/>
            <a:ext cx="5863771" cy="4276248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14000"/>
              </a:lnSpc>
              <a:spcBef>
                <a:spcPts val="0"/>
              </a:spcBef>
              <a:buClr>
                <a:srgbClr val="39AEA9"/>
              </a:buClr>
              <a:buNone/>
              <a:defRPr/>
            </a:pPr>
            <a:r>
              <a:rPr lang="en-US" sz="1600" dirty="0" err="1"/>
              <a:t>Conheça</a:t>
            </a:r>
            <a:r>
              <a:rPr lang="en-US" sz="1600" dirty="0"/>
              <a:t> a </a:t>
            </a:r>
            <a:r>
              <a:rPr lang="en-US" sz="1600" dirty="0" err="1"/>
              <a:t>seguir</a:t>
            </a:r>
            <a:r>
              <a:rPr lang="en-US" sz="1600" dirty="0"/>
              <a:t>, a </a:t>
            </a:r>
            <a:r>
              <a:rPr lang="en-US" sz="1600" dirty="0" err="1"/>
              <a:t>consolidação</a:t>
            </a:r>
            <a:r>
              <a:rPr lang="en-US" sz="1600" dirty="0"/>
              <a:t> das nossas políticas de RH, comportamento profissional e outras normas </a:t>
            </a:r>
            <a:r>
              <a:rPr lang="en-US" sz="1600" dirty="0" err="1"/>
              <a:t>organizacionais</a:t>
            </a:r>
            <a:r>
              <a:rPr lang="en-US" sz="1600" dirty="0"/>
              <a:t>, considerando que o nosso principal </a:t>
            </a:r>
            <a:r>
              <a:rPr lang="en-US" sz="1600" dirty="0" err="1"/>
              <a:t>objetivo</a:t>
            </a:r>
            <a:r>
              <a:rPr lang="en-US" sz="1600" dirty="0"/>
              <a:t>, </a:t>
            </a:r>
            <a:r>
              <a:rPr lang="en-US" sz="1600" dirty="0" err="1"/>
              <a:t>juntamente</a:t>
            </a:r>
            <a:r>
              <a:rPr lang="en-US" sz="1600" dirty="0"/>
              <a:t> com você, é o de manter uma boa relação de trabalho. </a:t>
            </a:r>
          </a:p>
          <a:p>
            <a:pPr marL="0" algn="just">
              <a:lnSpc>
                <a:spcPct val="114000"/>
              </a:lnSpc>
              <a:spcBef>
                <a:spcPts val="0"/>
              </a:spcBef>
              <a:buClr>
                <a:srgbClr val="39AEA9"/>
              </a:buClr>
              <a:defRPr/>
            </a:pPr>
            <a:endParaRPr lang="en-US" sz="1600" dirty="0"/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Clr>
                <a:srgbClr val="39AEA9"/>
              </a:buClr>
              <a:buNone/>
              <a:defRPr/>
            </a:pPr>
            <a:r>
              <a:rPr lang="en-US" sz="1600" dirty="0"/>
              <a:t>O </a:t>
            </a:r>
            <a:r>
              <a:rPr lang="en-US" sz="1600" dirty="0" err="1"/>
              <a:t>jogo</a:t>
            </a:r>
            <a:r>
              <a:rPr lang="en-US" sz="1600" dirty="0"/>
              <a:t> continua e não </a:t>
            </a:r>
            <a:r>
              <a:rPr lang="en-US" sz="1600" dirty="0" err="1"/>
              <a:t>podemos</a:t>
            </a:r>
            <a:r>
              <a:rPr lang="en-US" sz="1600" dirty="0"/>
              <a:t> </a:t>
            </a:r>
            <a:r>
              <a:rPr lang="en-US" sz="1600" dirty="0" err="1"/>
              <a:t>perder</a:t>
            </a:r>
            <a:r>
              <a:rPr lang="en-US" sz="1600" dirty="0"/>
              <a:t> a bola, </a:t>
            </a:r>
            <a:r>
              <a:rPr lang="en-US" sz="1600" dirty="0" err="1"/>
              <a:t>contamos</a:t>
            </a:r>
            <a:r>
              <a:rPr lang="en-US" sz="1600" dirty="0"/>
              <a:t> com você para que possamos ser um time </a:t>
            </a:r>
            <a:r>
              <a:rPr lang="en-US" sz="1600" dirty="0" err="1"/>
              <a:t>vencedor</a:t>
            </a:r>
            <a:r>
              <a:rPr lang="en-US" sz="1600" dirty="0"/>
              <a:t>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rgbClr val="39AEA9"/>
              </a:buClr>
              <a:defRPr/>
            </a:pPr>
            <a:endParaRPr lang="en-US" sz="1600" dirty="0"/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Clr>
                <a:srgbClr val="39AEA9"/>
              </a:buClr>
              <a:buNone/>
              <a:defRPr/>
            </a:pPr>
            <a:r>
              <a:rPr lang="en-US" sz="1600" dirty="0" err="1"/>
              <a:t>Deixaremos</a:t>
            </a:r>
            <a:r>
              <a:rPr lang="en-US" sz="1600" dirty="0"/>
              <a:t> </a:t>
            </a:r>
            <a:r>
              <a:rPr lang="en-US" sz="1600" dirty="0" err="1"/>
              <a:t>disponível</a:t>
            </a:r>
            <a:r>
              <a:rPr lang="en-US" sz="1600" dirty="0"/>
              <a:t> um manual </a:t>
            </a:r>
            <a:r>
              <a:rPr lang="en-US" sz="1600" dirty="0" err="1"/>
              <a:t>completo</a:t>
            </a:r>
            <a:r>
              <a:rPr lang="en-US" sz="1600" dirty="0"/>
              <a:t>, </a:t>
            </a:r>
            <a:r>
              <a:rPr lang="en-US" sz="1600" dirty="0" err="1"/>
              <a:t>impresso</a:t>
            </a:r>
            <a:r>
              <a:rPr lang="en-US" sz="1600" dirty="0"/>
              <a:t> e </a:t>
            </a:r>
            <a:r>
              <a:rPr lang="en-US" sz="1600" dirty="0" err="1"/>
              <a:t>detalhado</a:t>
            </a:r>
            <a:r>
              <a:rPr lang="en-US" sz="1600" dirty="0"/>
              <a:t> com a </a:t>
            </a:r>
            <a:r>
              <a:rPr lang="en-US" sz="1600" dirty="0" err="1"/>
              <a:t>integração</a:t>
            </a:r>
            <a:r>
              <a:rPr lang="en-US" sz="1600" dirty="0"/>
              <a:t> de todas as normas e </a:t>
            </a:r>
            <a:r>
              <a:rPr lang="en-US" sz="1600" dirty="0" err="1"/>
              <a:t>procedimentos</a:t>
            </a:r>
            <a:r>
              <a:rPr lang="en-US" sz="1600" dirty="0"/>
              <a:t> internos de trabalho do GRUPO SENA, para </a:t>
            </a:r>
            <a:r>
              <a:rPr lang="en-US" sz="1600" dirty="0" err="1"/>
              <a:t>futuras</a:t>
            </a:r>
            <a:r>
              <a:rPr lang="en-US" sz="1600" dirty="0"/>
              <a:t> </a:t>
            </a:r>
            <a:r>
              <a:rPr lang="en-US" sz="1600" dirty="0" err="1"/>
              <a:t>consultas</a:t>
            </a:r>
            <a:r>
              <a:rPr lang="en-US" sz="1600" dirty="0"/>
              <a:t>.</a:t>
            </a:r>
          </a:p>
          <a:p>
            <a:pPr algn="just">
              <a:lnSpc>
                <a:spcPct val="114000"/>
              </a:lnSpc>
              <a:spcBef>
                <a:spcPts val="0"/>
              </a:spcBef>
              <a:buClr>
                <a:srgbClr val="39AEA9"/>
              </a:buClr>
              <a:defRPr/>
            </a:pPr>
            <a:endParaRPr lang="en-US" sz="1600" dirty="0"/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Clr>
                <a:srgbClr val="39AEA9"/>
              </a:buClr>
              <a:buNone/>
              <a:defRPr/>
            </a:pPr>
            <a:r>
              <a:rPr lang="en-US" sz="1600" dirty="0" err="1"/>
              <a:t>Estaremos</a:t>
            </a:r>
            <a:r>
              <a:rPr lang="en-US" sz="1600" dirty="0"/>
              <a:t> à sua </a:t>
            </a:r>
            <a:r>
              <a:rPr lang="en-US" sz="1600" dirty="0" err="1"/>
              <a:t>disposição</a:t>
            </a:r>
            <a:r>
              <a:rPr lang="en-US" sz="1600" dirty="0"/>
              <a:t> para  </a:t>
            </a:r>
            <a:r>
              <a:rPr lang="en-US" sz="1600" dirty="0" err="1"/>
              <a:t>ajudá</a:t>
            </a:r>
            <a:r>
              <a:rPr lang="en-US" sz="1600" dirty="0"/>
              <a:t>-lo no que for </a:t>
            </a:r>
            <a:r>
              <a:rPr lang="en-US" sz="1600" dirty="0" err="1"/>
              <a:t>preciso</a:t>
            </a:r>
            <a:r>
              <a:rPr lang="en-US" sz="1600" dirty="0"/>
              <a:t>, a fim de </a:t>
            </a:r>
            <a:r>
              <a:rPr lang="en-US" sz="1600" dirty="0" err="1"/>
              <a:t>prestar-lhe</a:t>
            </a:r>
            <a:r>
              <a:rPr lang="en-US" sz="1600" dirty="0"/>
              <a:t> todo </a:t>
            </a:r>
            <a:r>
              <a:rPr lang="en-US" sz="1600" dirty="0" err="1"/>
              <a:t>apoio</a:t>
            </a:r>
            <a:r>
              <a:rPr lang="en-US" sz="1600" dirty="0"/>
              <a:t> e </a:t>
            </a:r>
            <a:r>
              <a:rPr lang="en-US" sz="1600" dirty="0" err="1"/>
              <a:t>esclarecer</a:t>
            </a:r>
            <a:r>
              <a:rPr lang="en-US" sz="1600" dirty="0"/>
              <a:t> </a:t>
            </a:r>
            <a:r>
              <a:rPr lang="en-US" sz="1600" dirty="0" err="1"/>
              <a:t>quaisquer</a:t>
            </a:r>
            <a:r>
              <a:rPr lang="en-US" sz="1600" dirty="0"/>
              <a:t> </a:t>
            </a:r>
            <a:r>
              <a:rPr lang="en-US" sz="1600" dirty="0" err="1"/>
              <a:t>dúvidas</a:t>
            </a:r>
            <a:r>
              <a:rPr lang="en-US" sz="1600" dirty="0"/>
              <a:t> que </a:t>
            </a:r>
            <a:r>
              <a:rPr lang="en-US" sz="1600" dirty="0" err="1"/>
              <a:t>tiverem</a:t>
            </a:r>
            <a:r>
              <a:rPr lang="en-US" sz="1600" dirty="0"/>
              <a:t>. </a:t>
            </a:r>
          </a:p>
        </p:txBody>
      </p:sp>
      <p:pic>
        <p:nvPicPr>
          <p:cNvPr id="8" name="Espaço Reservado para Conteúdo 7" descr="Uma imagem contendo segurando, mulher, vermelho, branco&#10;&#10;Descrição gerada automaticamente">
            <a:extLst>
              <a:ext uri="{FF2B5EF4-FFF2-40B4-BE49-F238E27FC236}">
                <a16:creationId xmlns:a16="http://schemas.microsoft.com/office/drawing/2014/main" id="{8E888FB8-BE78-49AA-A19A-3F6326459B9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79" r="15479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486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CE85DD7-2CCA-4DEF-B6BB-C1B266BCAE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9604" y="2610279"/>
            <a:ext cx="5899040" cy="4126957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pt-BR" sz="1950" dirty="0"/>
              <a:t>O expediente tem </a:t>
            </a:r>
            <a:r>
              <a:rPr lang="pt-BR" sz="1950" b="1" dirty="0"/>
              <a:t>início às 08h00 </a:t>
            </a:r>
            <a:r>
              <a:rPr lang="pt-BR" sz="1950" dirty="0"/>
              <a:t>e </a:t>
            </a:r>
            <a:r>
              <a:rPr lang="pt-BR" sz="1950" b="1" dirty="0"/>
              <a:t>término às 18h00</a:t>
            </a:r>
            <a:r>
              <a:rPr lang="pt-BR" sz="1950" dirty="0"/>
              <a:t>, sendo estabelecidas </a:t>
            </a:r>
            <a:r>
              <a:rPr lang="pt-BR" sz="1950" b="1" dirty="0"/>
              <a:t>02 escalas para o horário de almoço</a:t>
            </a:r>
            <a:r>
              <a:rPr lang="pt-BR" sz="1950" dirty="0"/>
              <a:t>, onde os colaboradores fazem o revezamento:</a:t>
            </a:r>
          </a:p>
          <a:p>
            <a:pPr marL="800100" lvl="1" indent="-3429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1950" dirty="0"/>
              <a:t>De 11:30 às 12:30 horas.</a:t>
            </a:r>
          </a:p>
          <a:p>
            <a:pPr marL="800100" lvl="1" indent="-3429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1950" dirty="0"/>
              <a:t>De 12:30 às 13:30 horas.</a:t>
            </a:r>
          </a:p>
          <a:p>
            <a:pPr marL="457200" lvl="1" indent="0" algn="just">
              <a:lnSpc>
                <a:spcPct val="114000"/>
              </a:lnSpc>
              <a:spcBef>
                <a:spcPts val="0"/>
              </a:spcBef>
              <a:buNone/>
            </a:pPr>
            <a:endParaRPr lang="pt-BR" sz="1950" dirty="0"/>
          </a:p>
          <a:p>
            <a:pPr marL="0" lvl="1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pt-BR" sz="1950" dirty="0"/>
              <a:t>O </a:t>
            </a:r>
            <a:r>
              <a:rPr lang="pt-BR" sz="1950" b="1" dirty="0"/>
              <a:t>lanche da tarde </a:t>
            </a:r>
            <a:r>
              <a:rPr lang="pt-BR" sz="1950" dirty="0"/>
              <a:t>tem duração de no </a:t>
            </a:r>
            <a:r>
              <a:rPr lang="pt-BR" sz="1950" b="1" dirty="0"/>
              <a:t>máximo 15 minutos</a:t>
            </a:r>
            <a:r>
              <a:rPr lang="pt-BR" sz="1950" dirty="0"/>
              <a:t>, devendo o funcionário retornar à sua estação de trabalho após esse tempo, visto tratar-se de uma refeição rápida, que o próprio funcionário deverá trazer diariamente, para que esse tempo não seja estendido. </a:t>
            </a:r>
          </a:p>
          <a:p>
            <a:pPr marL="800100" lvl="1" indent="-3429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pt-BR" sz="1950" dirty="0"/>
          </a:p>
        </p:txBody>
      </p:sp>
      <p:pic>
        <p:nvPicPr>
          <p:cNvPr id="26" name="Espaço Reservado para Conteúdo 25" descr="Relógio de ponteiros&#10;&#10;Descrição gerada automaticamente">
            <a:extLst>
              <a:ext uri="{FF2B5EF4-FFF2-40B4-BE49-F238E27FC236}">
                <a16:creationId xmlns:a16="http://schemas.microsoft.com/office/drawing/2014/main" id="{B7059105-B6C2-43A6-A71D-E97CD41E7C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4" r="-1" b="-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41" name="Retângulo 1">
            <a:extLst>
              <a:ext uri="{FF2B5EF4-FFF2-40B4-BE49-F238E27FC236}">
                <a16:creationId xmlns:a16="http://schemas.microsoft.com/office/drawing/2014/main" id="{0C5568BC-CD0D-4ED0-9EDE-B08F965C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604" y="763602"/>
            <a:ext cx="3381387" cy="9925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3500" b="1" dirty="0">
                <a:solidFill>
                  <a:srgbClr val="BB3D05"/>
                </a:solidFill>
                <a:latin typeface="+mn-lt"/>
              </a:rPr>
              <a:t>HORÁRIO</a:t>
            </a:r>
            <a:r>
              <a:rPr lang="pt-BR" sz="3000" b="1" dirty="0">
                <a:solidFill>
                  <a:srgbClr val="BB3D05"/>
                </a:solidFill>
                <a:latin typeface="+mn-lt"/>
              </a:rPr>
              <a:t> DE EXPEDIENTE e</a:t>
            </a:r>
          </a:p>
        </p:txBody>
      </p:sp>
      <p:sp>
        <p:nvSpPr>
          <p:cNvPr id="43" name="Content Placeholder 19">
            <a:extLst>
              <a:ext uri="{FF2B5EF4-FFF2-40B4-BE49-F238E27FC236}">
                <a16:creationId xmlns:a16="http://schemas.microsoft.com/office/drawing/2014/main" id="{18DE6269-2A8D-4A9B-B4EF-5BD3718B578D}"/>
              </a:ext>
            </a:extLst>
          </p:cNvPr>
          <p:cNvSpPr txBox="1">
            <a:spLocks/>
          </p:cNvSpPr>
          <p:nvPr/>
        </p:nvSpPr>
        <p:spPr>
          <a:xfrm>
            <a:off x="475969" y="4033710"/>
            <a:ext cx="5899040" cy="2548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pt-BR" sz="2200" dirty="0"/>
          </a:p>
        </p:txBody>
      </p:sp>
      <p:sp>
        <p:nvSpPr>
          <p:cNvPr id="44" name="Content Placeholder 19">
            <a:extLst>
              <a:ext uri="{FF2B5EF4-FFF2-40B4-BE49-F238E27FC236}">
                <a16:creationId xmlns:a16="http://schemas.microsoft.com/office/drawing/2014/main" id="{ABCCD0FC-6CF7-468B-A864-7963BB49EAD8}"/>
              </a:ext>
            </a:extLst>
          </p:cNvPr>
          <p:cNvSpPr txBox="1">
            <a:spLocks/>
          </p:cNvSpPr>
          <p:nvPr/>
        </p:nvSpPr>
        <p:spPr>
          <a:xfrm>
            <a:off x="149604" y="4912435"/>
            <a:ext cx="6593273" cy="18248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endParaRPr lang="pt-BR" sz="2000" dirty="0"/>
          </a:p>
        </p:txBody>
      </p:sp>
      <p:sp>
        <p:nvSpPr>
          <p:cNvPr id="8" name="Retângulo 1">
            <a:extLst>
              <a:ext uri="{FF2B5EF4-FFF2-40B4-BE49-F238E27FC236}">
                <a16:creationId xmlns:a16="http://schemas.microsoft.com/office/drawing/2014/main" id="{C1050526-376B-459A-9096-098892C5A16D}"/>
              </a:ext>
            </a:extLst>
          </p:cNvPr>
          <p:cNvSpPr txBox="1">
            <a:spLocks/>
          </p:cNvSpPr>
          <p:nvPr/>
        </p:nvSpPr>
        <p:spPr>
          <a:xfrm>
            <a:off x="1208359" y="1469354"/>
            <a:ext cx="3781530" cy="7848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pt-BR" sz="5000" b="1" dirty="0">
                <a:solidFill>
                  <a:srgbClr val="BB3D05"/>
                </a:solidFill>
                <a:latin typeface="+mn-lt"/>
              </a:rPr>
              <a:t>INTERVALOS</a:t>
            </a:r>
          </a:p>
        </p:txBody>
      </p:sp>
    </p:spTree>
    <p:extLst>
      <p:ext uri="{BB962C8B-B14F-4D97-AF65-F5344CB8AC3E}">
        <p14:creationId xmlns:p14="http://schemas.microsoft.com/office/powerpoint/2010/main" val="101736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  <p:bldP spid="41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Espaço Reservado para Conteúdo 25" descr="Relógio de ponteiros&#10;&#10;Descrição gerada automaticamente">
            <a:extLst>
              <a:ext uri="{FF2B5EF4-FFF2-40B4-BE49-F238E27FC236}">
                <a16:creationId xmlns:a16="http://schemas.microsoft.com/office/drawing/2014/main" id="{B7059105-B6C2-43A6-A71D-E97CD41E7C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54" r="-1" b="-1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41" name="Retângulo 1">
            <a:extLst>
              <a:ext uri="{FF2B5EF4-FFF2-40B4-BE49-F238E27FC236}">
                <a16:creationId xmlns:a16="http://schemas.microsoft.com/office/drawing/2014/main" id="{0C5568BC-CD0D-4ED0-9EDE-B08F965CB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78" y="677153"/>
            <a:ext cx="334811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5000" b="1" dirty="0">
                <a:solidFill>
                  <a:srgbClr val="BB3D05"/>
                </a:solidFill>
                <a:latin typeface="+mn-lt"/>
              </a:rPr>
              <a:t>ATRASOS e </a:t>
            </a:r>
          </a:p>
        </p:txBody>
      </p:sp>
      <p:sp>
        <p:nvSpPr>
          <p:cNvPr id="43" name="Content Placeholder 19">
            <a:extLst>
              <a:ext uri="{FF2B5EF4-FFF2-40B4-BE49-F238E27FC236}">
                <a16:creationId xmlns:a16="http://schemas.microsoft.com/office/drawing/2014/main" id="{18DE6269-2A8D-4A9B-B4EF-5BD3718B578D}"/>
              </a:ext>
            </a:extLst>
          </p:cNvPr>
          <p:cNvSpPr txBox="1">
            <a:spLocks/>
          </p:cNvSpPr>
          <p:nvPr/>
        </p:nvSpPr>
        <p:spPr>
          <a:xfrm>
            <a:off x="475969" y="4033710"/>
            <a:ext cx="5899040" cy="2548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</a:pPr>
            <a:endParaRPr lang="pt-BR" sz="2200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638A4F-3B9A-4534-B641-37300079B6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593" y="2419993"/>
            <a:ext cx="6067407" cy="337113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900" dirty="0"/>
              <a:t>A tolerância dos atrasos no início do expediente será de 10 minutos, durante 03 (três) vezes ao mês, o que acarretará em advertência verbal, por escrito e suspensão automática do dia, no 4º atraso, sendo o dia descontado em folha de pagamento, inclusive do descanso semanal remunerado.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900" dirty="0"/>
              <a:t>Na virada de cada mês, as advertências serão zeradas, no entanto, caso o colaborador tenha sido suspenso no mês anterior, e havendo necessidade de nova suspensão, os dias serão aumentados gradativamente a cada nova suspensão, ou então outra medida será tomada pela Diretoria.</a:t>
            </a:r>
          </a:p>
        </p:txBody>
      </p:sp>
      <p:sp>
        <p:nvSpPr>
          <p:cNvPr id="10" name="Retângulo 1">
            <a:extLst>
              <a:ext uri="{FF2B5EF4-FFF2-40B4-BE49-F238E27FC236}">
                <a16:creationId xmlns:a16="http://schemas.microsoft.com/office/drawing/2014/main" id="{2EE74809-9C71-4C7B-8B3D-D76590EAEC1C}"/>
              </a:ext>
            </a:extLst>
          </p:cNvPr>
          <p:cNvSpPr txBox="1">
            <a:spLocks/>
          </p:cNvSpPr>
          <p:nvPr/>
        </p:nvSpPr>
        <p:spPr>
          <a:xfrm>
            <a:off x="761516" y="1209539"/>
            <a:ext cx="4831787" cy="85408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pt-BR" sz="5500" b="1" dirty="0">
                <a:solidFill>
                  <a:srgbClr val="BB3D05"/>
                </a:solidFill>
                <a:latin typeface="+mn-lt"/>
              </a:rPr>
              <a:t>TOLERÂNCIAS 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4F661A0B-6EC3-4ABE-9F27-422C9675AD23}"/>
              </a:ext>
            </a:extLst>
          </p:cNvPr>
          <p:cNvSpPr txBox="1">
            <a:spLocks/>
          </p:cNvSpPr>
          <p:nvPr/>
        </p:nvSpPr>
        <p:spPr>
          <a:xfrm>
            <a:off x="-32582" y="5805922"/>
            <a:ext cx="7702771" cy="1066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pt-BR" sz="1900" dirty="0"/>
              <a:t>Para os atrasos dos intervalos de Almoço e de Lanche da tarde, serão tolerados 5 e 2 minutos diários, respectivamente, devendo a soma dos atrasos serem compensados imediatamente no mesmo dia da ocorrência dos fatos. </a:t>
            </a:r>
          </a:p>
        </p:txBody>
      </p:sp>
    </p:spTree>
    <p:extLst>
      <p:ext uri="{BB962C8B-B14F-4D97-AF65-F5344CB8AC3E}">
        <p14:creationId xmlns:p14="http://schemas.microsoft.com/office/powerpoint/2010/main" val="242745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3" grpId="0" build="p"/>
      <p:bldP spid="10" grpId="0"/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9" name="Rectangle 148">
            <a:extLst>
              <a:ext uri="{FF2B5EF4-FFF2-40B4-BE49-F238E27FC236}">
                <a16:creationId xmlns:a16="http://schemas.microsoft.com/office/drawing/2014/main" id="{F065D3F1-1E0F-4BC6-9846-BCE0BCC9D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tângulo 1">
            <a:extLst>
              <a:ext uri="{FF2B5EF4-FFF2-40B4-BE49-F238E27FC236}">
                <a16:creationId xmlns:a16="http://schemas.microsoft.com/office/drawing/2014/main" id="{ECA4DFB4-8C64-4AC1-A890-9D779B69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6574" y="819642"/>
            <a:ext cx="2665126" cy="7579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defRPr/>
            </a:pPr>
            <a:r>
              <a:rPr lang="en-US" sz="3500" b="1" kern="1200" dirty="0">
                <a:solidFill>
                  <a:srgbClr val="BB3D05"/>
                </a:solidFill>
                <a:latin typeface="+mj-lt"/>
                <a:ea typeface="+mj-ea"/>
                <a:cs typeface="+mj-cs"/>
              </a:rPr>
              <a:t>REGISTRO DE PONTO e</a:t>
            </a:r>
            <a:endParaRPr lang="en-US" sz="3500" b="1" kern="1200" spc="600" dirty="0">
              <a:solidFill>
                <a:srgbClr val="BB3D05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Espaço Reservado para Conteúdo 9" descr="Uma imagem contendo objeto, no interior, relógio, mesa&#10;&#10;Descrição gerada automaticamente">
            <a:extLst>
              <a:ext uri="{FF2B5EF4-FFF2-40B4-BE49-F238E27FC236}">
                <a16:creationId xmlns:a16="http://schemas.microsoft.com/office/drawing/2014/main" id="{DCE6EF9F-8284-4937-A6AF-378A28DE5D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36" r="-2" b="10934"/>
          <a:stretch/>
        </p:blipFill>
        <p:spPr>
          <a:xfrm>
            <a:off x="1" y="7"/>
            <a:ext cx="7680960" cy="2820489"/>
          </a:xfrm>
          <a:prstGeom prst="rect">
            <a:avLst/>
          </a:prstGeom>
        </p:spPr>
      </p:pic>
      <p:sp>
        <p:nvSpPr>
          <p:cNvPr id="39" name="Content Placeholder 30">
            <a:extLst>
              <a:ext uri="{FF2B5EF4-FFF2-40B4-BE49-F238E27FC236}">
                <a16:creationId xmlns:a16="http://schemas.microsoft.com/office/drawing/2014/main" id="{5C98BCF3-57EB-441E-9DDD-9B31095817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2999869"/>
            <a:ext cx="7469946" cy="379370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900" dirty="0"/>
              <a:t>Todo colaborador deve registrar sua entrada e saída do expediente, bem como o intervalo de almoço, em </a:t>
            </a:r>
            <a:r>
              <a:rPr lang="en-US" sz="1900" b="1" dirty="0"/>
              <a:t>ponto eletrônico</a:t>
            </a:r>
            <a:r>
              <a:rPr lang="en-US" sz="1900" dirty="0"/>
              <a:t>, conforme orientações.</a:t>
            </a:r>
          </a:p>
          <a:p>
            <a:pPr marL="323850" indent="-28575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900" dirty="0"/>
              <a:t>Ocorrendo qualquer engano no registro das marcações de ponto, o colaborador deverá comunicar imediatamente ao responsável pelo RH, para que sejam tomadas as providências necessárias para a correção. </a:t>
            </a:r>
          </a:p>
          <a:p>
            <a:pPr marL="323850" indent="-28575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1900" dirty="0"/>
              <a:t>As </a:t>
            </a:r>
            <a:r>
              <a:rPr lang="en-US" sz="1900" b="1" dirty="0"/>
              <a:t>horas </a:t>
            </a:r>
            <a:r>
              <a:rPr lang="en-US" sz="1900" b="1" dirty="0" err="1"/>
              <a:t>adicionais</a:t>
            </a:r>
            <a:r>
              <a:rPr lang="en-US" sz="1900" dirty="0"/>
              <a:t> serão liberadas somente em ocasiões excepcionais e deverão ser comunicadas com antecedência e permitidas pelo superior imediato. E para tanto, o </a:t>
            </a:r>
            <a:r>
              <a:rPr lang="en-US" sz="1900" b="1" dirty="0"/>
              <a:t>banco de horas </a:t>
            </a:r>
            <a:r>
              <a:rPr lang="en-US" sz="1900" dirty="0"/>
              <a:t>deverá ser devidamente acompanhado e imediatamente compensado, evitando assim o descontrole ou o acúmulo de horas desnecessariamente.</a:t>
            </a:r>
          </a:p>
        </p:txBody>
      </p:sp>
      <p:pic>
        <p:nvPicPr>
          <p:cNvPr id="5" name="Espaço Reservado para Conteúdo 4" descr="Uma imagem contendo lego, brinquedo&#10;&#10;Descrição gerada automaticamente">
            <a:extLst>
              <a:ext uri="{FF2B5EF4-FFF2-40B4-BE49-F238E27FC236}">
                <a16:creationId xmlns:a16="http://schemas.microsoft.com/office/drawing/2014/main" id="{2E3BF31E-B183-4E6B-AC54-4281B7DD95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03" r="18043" b="-2"/>
          <a:stretch/>
        </p:blipFill>
        <p:spPr>
          <a:xfrm>
            <a:off x="7671072" y="2768742"/>
            <a:ext cx="4520928" cy="4089256"/>
          </a:xfrm>
          <a:prstGeom prst="rect">
            <a:avLst/>
          </a:prstGeom>
        </p:spPr>
      </p:pic>
      <p:sp>
        <p:nvSpPr>
          <p:cNvPr id="151" name="Rectangle 150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7556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17" name="Retângulo 1">
            <a:extLst>
              <a:ext uri="{FF2B5EF4-FFF2-40B4-BE49-F238E27FC236}">
                <a16:creationId xmlns:a16="http://schemas.microsoft.com/office/drawing/2014/main" id="{8688B59D-F2DD-4B19-95CD-6511701682EA}"/>
              </a:ext>
            </a:extLst>
          </p:cNvPr>
          <p:cNvSpPr txBox="1">
            <a:spLocks/>
          </p:cNvSpPr>
          <p:nvPr/>
        </p:nvSpPr>
        <p:spPr>
          <a:xfrm>
            <a:off x="8378494" y="1567004"/>
            <a:ext cx="3813505" cy="7579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000" b="1" dirty="0">
                <a:solidFill>
                  <a:srgbClr val="BB3D05"/>
                </a:solidFill>
              </a:rPr>
              <a:t>BANCO DE HORAS</a:t>
            </a:r>
            <a:endParaRPr lang="en-US" sz="4000" b="1" spc="600" dirty="0">
              <a:solidFill>
                <a:srgbClr val="BB3D0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956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9" grpId="0" build="p"/>
      <p:bldP spid="1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66E48AFA-8884-4F68-A44F-D2C1E8609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8" name="Retângulo 1">
            <a:extLst>
              <a:ext uri="{FF2B5EF4-FFF2-40B4-BE49-F238E27FC236}">
                <a16:creationId xmlns:a16="http://schemas.microsoft.com/office/drawing/2014/main" id="{ECA4DFB4-8C64-4AC1-A890-9D779B69E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14063"/>
            <a:ext cx="2464481" cy="6865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en-US" sz="6000" b="1" kern="1200" dirty="0">
                <a:solidFill>
                  <a:srgbClr val="BB3D05"/>
                </a:solidFill>
                <a:latin typeface="+mj-lt"/>
                <a:ea typeface="+mj-ea"/>
                <a:cs typeface="+mj-cs"/>
              </a:rPr>
              <a:t>FALTAS </a:t>
            </a:r>
            <a:endParaRPr lang="en-US" sz="6000" b="1" kern="1200" spc="600" dirty="0">
              <a:solidFill>
                <a:srgbClr val="BB3D05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2" name="Arc 81">
            <a:extLst>
              <a:ext uri="{FF2B5EF4-FFF2-40B4-BE49-F238E27FC236}">
                <a16:creationId xmlns:a16="http://schemas.microsoft.com/office/drawing/2014/main" id="{969D19A6-08CB-498C-93EC-3FFB021FC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Retângulo 65">
            <a:extLst>
              <a:ext uri="{FF2B5EF4-FFF2-40B4-BE49-F238E27FC236}">
                <a16:creationId xmlns:a16="http://schemas.microsoft.com/office/drawing/2014/main" id="{C5D7080C-7EDF-4CFA-8DDF-B94DA54121FA}"/>
              </a:ext>
            </a:extLst>
          </p:cNvPr>
          <p:cNvSpPr/>
          <p:nvPr/>
        </p:nvSpPr>
        <p:spPr>
          <a:xfrm>
            <a:off x="0" y="3384042"/>
            <a:ext cx="3488788" cy="233089"/>
          </a:xfrm>
          <a:prstGeom prst="rect">
            <a:avLst/>
          </a:prstGeom>
          <a:solidFill>
            <a:srgbClr val="661302"/>
          </a:solidFill>
          <a:ln w="10477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BB3D05"/>
              </a:solidFill>
              <a:effectLst/>
              <a:uLnTx/>
              <a:uFillTx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75904D-3E11-452F-B036-65876D6B5D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32612" y="3286371"/>
            <a:ext cx="7681987" cy="3093707"/>
          </a:xfrm>
        </p:spPr>
        <p:txBody>
          <a:bodyPr vert="horz" lIns="91440" tIns="45720" rIns="91440" bIns="45720" rtlCol="0">
            <a:noAutofit/>
          </a:bodyPr>
          <a:lstStyle/>
          <a:p>
            <a:pPr marL="381000" indent="-3429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100" dirty="0"/>
              <a:t>As </a:t>
            </a:r>
            <a:r>
              <a:rPr lang="en-US" sz="2100" b="1" dirty="0"/>
              <a:t>faltas JUSTIFICADAS</a:t>
            </a:r>
            <a:r>
              <a:rPr lang="en-US" sz="2100" dirty="0"/>
              <a:t> deverão ser comunicadas à empresa e, posteriormente, é obrigatória a apresentação de atestado médico ou equivalente, a fim de compensar o dia ou as horas ausentes.</a:t>
            </a:r>
          </a:p>
          <a:p>
            <a:pPr marL="266700" algn="just">
              <a:lnSpc>
                <a:spcPct val="114000"/>
              </a:lnSpc>
              <a:spcBef>
                <a:spcPts val="0"/>
              </a:spcBef>
            </a:pPr>
            <a:endParaRPr lang="en-US" sz="2100" dirty="0"/>
          </a:p>
          <a:p>
            <a:pPr marL="381000" indent="-3429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100" dirty="0"/>
              <a:t>As </a:t>
            </a:r>
            <a:r>
              <a:rPr lang="en-US" sz="2100" b="1" dirty="0"/>
              <a:t>faltas INJUSTIFICADAS</a:t>
            </a:r>
            <a:r>
              <a:rPr lang="en-US" sz="2100" dirty="0"/>
              <a:t> acarretarão advertência e, </a:t>
            </a:r>
            <a:r>
              <a:rPr lang="en-US" sz="2100" dirty="0" err="1"/>
              <a:t>havendo</a:t>
            </a:r>
            <a:r>
              <a:rPr lang="en-US" sz="2100" dirty="0"/>
              <a:t> reincidência, suspensão automática, com desconto inclusive do descanso semanal remunerado, e posteriormente, demissão do </a:t>
            </a:r>
            <a:r>
              <a:rPr lang="en-US" sz="2100" dirty="0" err="1"/>
              <a:t>infrator</a:t>
            </a:r>
            <a:r>
              <a:rPr lang="en-US" sz="2100" dirty="0"/>
              <a:t>.</a:t>
            </a:r>
          </a:p>
          <a:p>
            <a:pPr marL="266700" algn="just">
              <a:lnSpc>
                <a:spcPct val="114000"/>
              </a:lnSpc>
              <a:spcBef>
                <a:spcPts val="0"/>
              </a:spcBef>
            </a:pPr>
            <a:endParaRPr lang="en-US" sz="2100" dirty="0"/>
          </a:p>
          <a:p>
            <a:pPr algn="just">
              <a:lnSpc>
                <a:spcPct val="114000"/>
              </a:lnSpc>
              <a:spcBef>
                <a:spcPts val="0"/>
              </a:spcBef>
            </a:pPr>
            <a:endParaRPr lang="en-US" sz="2100" dirty="0"/>
          </a:p>
        </p:txBody>
      </p:sp>
      <p:pic>
        <p:nvPicPr>
          <p:cNvPr id="17" name="Espaço Reservado para Conteúdo 16" descr="Uma imagem contendo espelho&#10;&#10;Descrição gerada automaticamente">
            <a:extLst>
              <a:ext uri="{FF2B5EF4-FFF2-40B4-BE49-F238E27FC236}">
                <a16:creationId xmlns:a16="http://schemas.microsoft.com/office/drawing/2014/main" id="{D6ECD732-4954-4A6C-A3B5-B063599776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78" y="287629"/>
            <a:ext cx="10312791" cy="2520820"/>
          </a:xfrm>
        </p:spPr>
      </p:pic>
    </p:spTree>
    <p:extLst>
      <p:ext uri="{BB962C8B-B14F-4D97-AF65-F5344CB8AC3E}">
        <p14:creationId xmlns:p14="http://schemas.microsoft.com/office/powerpoint/2010/main" val="65047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66" grpId="0" animBg="1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8766ED8A-7C55-4C4C-AE1E-146F50010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848" y="419348"/>
            <a:ext cx="5733419" cy="574897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114000"/>
              </a:lnSpc>
            </a:pPr>
            <a:r>
              <a:rPr lang="pt-BR" sz="2700" dirty="0">
                <a:latin typeface="+mn-lt"/>
              </a:rPr>
              <a:t>Colaborador, entenda que a sua presença é fundamental para o andamento e manutenção das atividades da nossa organização diariamente, e por isso, se precisar se ausentar do trabalho, avise com antecedência, ou, se não for possível, comunique-se tão logo tenha condições.</a:t>
            </a:r>
            <a:br>
              <a:rPr lang="pt-BR" sz="2700" dirty="0">
                <a:latin typeface="+mn-lt"/>
              </a:rPr>
            </a:br>
            <a:r>
              <a:rPr lang="pt-BR" sz="2700" dirty="0">
                <a:latin typeface="+mn-lt"/>
              </a:rPr>
              <a:t>O bom desempenho de todas as tarefas depende de todos os envolvidos no trabalho... lembre-se sempre disso!</a:t>
            </a:r>
            <a:endParaRPr lang="en-US" sz="2700" dirty="0">
              <a:latin typeface="+mn-lt"/>
            </a:endParaRPr>
          </a:p>
        </p:txBody>
      </p:sp>
      <p:sp>
        <p:nvSpPr>
          <p:cNvPr id="18" name="Freeform: Shape 15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Espaço Reservado para Conteúdo 6" descr="Brinquedo de lego&#10;&#10;Descrição gerada automaticamente">
            <a:extLst>
              <a:ext uri="{FF2B5EF4-FFF2-40B4-BE49-F238E27FC236}">
                <a16:creationId xmlns:a16="http://schemas.microsoft.com/office/drawing/2014/main" id="{8B4F1F31-543C-44EF-80E9-9BBC0541402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" r="1066"/>
          <a:stretch/>
        </p:blipFill>
        <p:spPr>
          <a:xfrm>
            <a:off x="20" y="1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27467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spaço Reservado para Conteúdo 5" descr="Uma imagem contendo objeto, relógio&#10;&#10;Descrição gerada automaticamente">
            <a:extLst>
              <a:ext uri="{FF2B5EF4-FFF2-40B4-BE49-F238E27FC236}">
                <a16:creationId xmlns:a16="http://schemas.microsoft.com/office/drawing/2014/main" id="{94C032C4-A799-4BD8-9EA8-0EEA754C7F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54" r="-2" b="-2"/>
          <a:stretch/>
        </p:blipFill>
        <p:spPr>
          <a:xfrm>
            <a:off x="6083786" y="-168318"/>
            <a:ext cx="6261330" cy="3932313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8" name="Espaço Reservado para Conteúdo 7" descr="Uma imagem contendo relógio&#10;&#10;Descrição gerada automaticamente">
            <a:extLst>
              <a:ext uri="{FF2B5EF4-FFF2-40B4-BE49-F238E27FC236}">
                <a16:creationId xmlns:a16="http://schemas.microsoft.com/office/drawing/2014/main" id="{DF865DCB-19D8-40F2-841A-755F9530B8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" r="2156" b="2"/>
          <a:stretch/>
        </p:blipFill>
        <p:spPr>
          <a:xfrm>
            <a:off x="6089904" y="2487168"/>
            <a:ext cx="6263640" cy="4215384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901FED-4FC9-4ED5-8123-C98BCD161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E397DDCA-68FF-4C72-A9C8-BDAAD88EF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24" y="96553"/>
            <a:ext cx="2102736" cy="63094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i="0" u="none" strike="noStrike" kern="0" cap="none" spc="-30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  <a:latin typeface="+mn-lt"/>
              </a:rPr>
              <a:t>FERIADOS</a:t>
            </a:r>
            <a:r>
              <a:rPr kumimoji="0" lang="pt-BR" sz="3500" b="1" i="0" u="none" strike="noStrike" kern="0" cap="none" spc="-30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  <a:latin typeface="+mn-lt"/>
              </a:rPr>
              <a:t>  e</a:t>
            </a:r>
          </a:p>
        </p:txBody>
      </p:sp>
      <p:sp>
        <p:nvSpPr>
          <p:cNvPr id="13" name="Subtítulo 5">
            <a:extLst>
              <a:ext uri="{FF2B5EF4-FFF2-40B4-BE49-F238E27FC236}">
                <a16:creationId xmlns:a16="http://schemas.microsoft.com/office/drawing/2014/main" id="{9156BD0B-3B17-4163-A839-7031499ECEF5}"/>
              </a:ext>
            </a:extLst>
          </p:cNvPr>
          <p:cNvSpPr txBox="1">
            <a:spLocks/>
          </p:cNvSpPr>
          <p:nvPr/>
        </p:nvSpPr>
        <p:spPr bwMode="auto">
          <a:xfrm>
            <a:off x="91824" y="1320635"/>
            <a:ext cx="6126309" cy="1475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Os feriados prolongados, quando emendados, serão antecipadamente discutidos entre a Gestão e a Diretoria da empresa, com a definição que melhor convier à empresa.</a:t>
            </a:r>
          </a:p>
        </p:txBody>
      </p:sp>
      <p:sp>
        <p:nvSpPr>
          <p:cNvPr id="14" name="Subtítulo 5">
            <a:extLst>
              <a:ext uri="{FF2B5EF4-FFF2-40B4-BE49-F238E27FC236}">
                <a16:creationId xmlns:a16="http://schemas.microsoft.com/office/drawing/2014/main" id="{DAFE90E0-9813-4B2D-8BB4-F6E11F1A78DF}"/>
              </a:ext>
            </a:extLst>
          </p:cNvPr>
          <p:cNvSpPr txBox="1">
            <a:spLocks/>
          </p:cNvSpPr>
          <p:nvPr/>
        </p:nvSpPr>
        <p:spPr bwMode="auto">
          <a:xfrm>
            <a:off x="91824" y="4566718"/>
            <a:ext cx="6126309" cy="2177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pt-BR" sz="2000" b="1" dirty="0">
                <a:latin typeface="+mn-lt"/>
              </a:rPr>
              <a:t>Não serão concedidas folgas aos colaboradores que se encontrem com saldo negativo de horas,</a:t>
            </a:r>
            <a:r>
              <a:rPr lang="pt-BR" sz="2000" dirty="0">
                <a:latin typeface="+mn-lt"/>
              </a:rPr>
              <a:t> exceto em casos excepcionais, caso o superior imediato conceder a folga, e tendo o mesmo a responsabilidade e se comprometendo a acompanhar o colaborador durante toda a sua compensação.</a:t>
            </a:r>
            <a:endParaRPr lang="pt-BR" sz="2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9" name="Título 10">
            <a:extLst>
              <a:ext uri="{FF2B5EF4-FFF2-40B4-BE49-F238E27FC236}">
                <a16:creationId xmlns:a16="http://schemas.microsoft.com/office/drawing/2014/main" id="{45649FE9-8B75-4089-9BC4-D0A3CF0E8C5D}"/>
              </a:ext>
            </a:extLst>
          </p:cNvPr>
          <p:cNvSpPr txBox="1">
            <a:spLocks/>
          </p:cNvSpPr>
          <p:nvPr/>
        </p:nvSpPr>
        <p:spPr>
          <a:xfrm>
            <a:off x="586588" y="444431"/>
            <a:ext cx="3369060" cy="70788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4000" b="1" kern="0" spc="-300" dirty="0">
                <a:solidFill>
                  <a:srgbClr val="BB3D05"/>
                </a:solidFill>
                <a:latin typeface="+mn-lt"/>
              </a:rPr>
              <a:t>COMPENSAÇÕES</a:t>
            </a:r>
          </a:p>
        </p:txBody>
      </p:sp>
      <p:sp>
        <p:nvSpPr>
          <p:cNvPr id="10" name="Subtítulo 5">
            <a:extLst>
              <a:ext uri="{FF2B5EF4-FFF2-40B4-BE49-F238E27FC236}">
                <a16:creationId xmlns:a16="http://schemas.microsoft.com/office/drawing/2014/main" id="{AC67AB11-0564-4E2D-8BA6-8D367F05B485}"/>
              </a:ext>
            </a:extLst>
          </p:cNvPr>
          <p:cNvSpPr txBox="1">
            <a:spLocks/>
          </p:cNvSpPr>
          <p:nvPr/>
        </p:nvSpPr>
        <p:spPr bwMode="auto">
          <a:xfrm>
            <a:off x="21592" y="2977765"/>
            <a:ext cx="612630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Exceções de compensação deverão ser discutidas diretamente com o superior imediato, que analisará caso a caso, sendo regra geral a compensação igual e justa a todos os colaboradores.</a:t>
            </a:r>
          </a:p>
        </p:txBody>
      </p:sp>
    </p:spTree>
    <p:extLst>
      <p:ext uri="{BB962C8B-B14F-4D97-AF65-F5344CB8AC3E}">
        <p14:creationId xmlns:p14="http://schemas.microsoft.com/office/powerpoint/2010/main" val="2398850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3D8D4EC1-8241-4D7D-8F6C-732994AC88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1" r="4" b="1499"/>
          <a:stretch/>
        </p:blipFill>
        <p:spPr>
          <a:xfrm>
            <a:off x="6083786" y="-168318"/>
            <a:ext cx="6261330" cy="3932313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6" name="Espaço Reservado para Conteúdo 5" descr="Uma imagem contendo grama, segurando, comida, mão&#10;&#10;Descrição gerada automaticamente">
            <a:extLst>
              <a:ext uri="{FF2B5EF4-FFF2-40B4-BE49-F238E27FC236}">
                <a16:creationId xmlns:a16="http://schemas.microsoft.com/office/drawing/2014/main" id="{F312637A-EB0C-4D87-92AE-F258288CE4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4" r="13239" b="-2"/>
          <a:stretch/>
        </p:blipFill>
        <p:spPr>
          <a:xfrm>
            <a:off x="6256553" y="2642616"/>
            <a:ext cx="6263640" cy="4215384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901FED-4FC9-4ED5-8123-C98BCD161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ítulo 10">
            <a:extLst>
              <a:ext uri="{FF2B5EF4-FFF2-40B4-BE49-F238E27FC236}">
                <a16:creationId xmlns:a16="http://schemas.microsoft.com/office/drawing/2014/main" id="{EBC71C82-964C-4E4A-B836-9E2728A9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95" y="455705"/>
            <a:ext cx="3462337" cy="5509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0" cap="none" spc="-30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  <a:latin typeface="+mn-lt"/>
              </a:rPr>
              <a:t>REMUNERAÇÃO</a:t>
            </a:r>
          </a:p>
        </p:txBody>
      </p:sp>
      <p:sp>
        <p:nvSpPr>
          <p:cNvPr id="13" name="Subtítulo 5">
            <a:extLst>
              <a:ext uri="{FF2B5EF4-FFF2-40B4-BE49-F238E27FC236}">
                <a16:creationId xmlns:a16="http://schemas.microsoft.com/office/drawing/2014/main" id="{532DB8C1-4E1C-4828-A5EF-F04D8C69C750}"/>
              </a:ext>
            </a:extLst>
          </p:cNvPr>
          <p:cNvSpPr txBox="1">
            <a:spLocks noGrp="1"/>
          </p:cNvSpPr>
          <p:nvPr>
            <p:ph sz="half" idx="1"/>
          </p:nvPr>
        </p:nvSpPr>
        <p:spPr bwMode="auto">
          <a:xfrm>
            <a:off x="181195" y="1264659"/>
            <a:ext cx="6075358" cy="5335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dirty="0">
                <a:latin typeface="+mn-lt"/>
              </a:rPr>
              <a:t>O </a:t>
            </a:r>
            <a:r>
              <a:rPr lang="en-US" sz="2000" b="1" u="sng" dirty="0" err="1">
                <a:latin typeface="+mn-lt"/>
              </a:rPr>
              <a:t>salário</a:t>
            </a:r>
            <a:r>
              <a:rPr lang="en-US" sz="2000" b="1" u="sng" dirty="0">
                <a:latin typeface="+mn-lt"/>
              </a:rPr>
              <a:t> mensal</a:t>
            </a:r>
            <a:r>
              <a:rPr lang="en-US" sz="2000" dirty="0">
                <a:latin typeface="+mn-lt"/>
              </a:rPr>
              <a:t> é </a:t>
            </a:r>
            <a:r>
              <a:rPr lang="en-US" sz="2000" dirty="0" err="1">
                <a:latin typeface="+mn-lt"/>
              </a:rPr>
              <a:t>depositado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até</a:t>
            </a:r>
            <a:r>
              <a:rPr lang="en-US" sz="2000" dirty="0">
                <a:latin typeface="+mn-lt"/>
              </a:rPr>
              <a:t> o 5º dia útil do mês </a:t>
            </a:r>
            <a:r>
              <a:rPr lang="en-US" sz="2000" dirty="0" err="1">
                <a:latin typeface="+mn-lt"/>
              </a:rPr>
              <a:t>subsequente</a:t>
            </a:r>
            <a:r>
              <a:rPr lang="en-US" sz="2000" dirty="0">
                <a:latin typeface="+mn-lt"/>
              </a:rPr>
              <a:t> à </a:t>
            </a:r>
            <a:r>
              <a:rPr lang="en-US" sz="2000" dirty="0" err="1">
                <a:latin typeface="+mn-lt"/>
              </a:rPr>
              <a:t>competência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trabalhada</a:t>
            </a:r>
            <a:r>
              <a:rPr lang="en-US" sz="2000" dirty="0">
                <a:latin typeface="+mn-lt"/>
              </a:rPr>
              <a:t>.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buNone/>
            </a:pPr>
            <a:endParaRPr lang="en-US" sz="2000" dirty="0">
              <a:latin typeface="+mn-lt"/>
            </a:endParaRP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O </a:t>
            </a:r>
            <a:r>
              <a:rPr lang="pt-BR" sz="2000" b="1" u="sng" dirty="0">
                <a:latin typeface="+mn-lt"/>
              </a:rPr>
              <a:t>13º salário</a:t>
            </a:r>
            <a:r>
              <a:rPr lang="pt-BR" sz="2000" dirty="0">
                <a:latin typeface="+mn-lt"/>
              </a:rPr>
              <a:t> é pago proporcional ao tempo de serviço do empregado na empresa, considerando-se a fração de 15 dias de trabalho como mês integral, sendo a primeira parcela paga no último dia útil do mês de novembro, e a segunda parcela no dia 20 de dezembro.</a:t>
            </a:r>
            <a:endParaRPr lang="pt-BR" sz="2000" dirty="0">
              <a:latin typeface="+mn-lt"/>
              <a:ea typeface="Verdana" pitchFamily="34" charset="0"/>
              <a:cs typeface="Verdana" pitchFamily="34" charset="0"/>
            </a:endParaRP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pt-BR" sz="2000" dirty="0">
              <a:latin typeface="+mn-lt"/>
              <a:ea typeface="Verdana" pitchFamily="34" charset="0"/>
              <a:cs typeface="Verdana" pitchFamily="34" charset="0"/>
            </a:endParaRPr>
          </a:p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As </a:t>
            </a:r>
            <a:r>
              <a:rPr lang="pt-BR" sz="2000" b="1" u="sng" dirty="0">
                <a:latin typeface="+mn-lt"/>
              </a:rPr>
              <a:t>Férias</a:t>
            </a:r>
            <a:r>
              <a:rPr lang="pt-BR" sz="2000" dirty="0">
                <a:latin typeface="+mn-lt"/>
              </a:rPr>
              <a:t> serão concedidas na forma da Lei, na época que melhor convier à empresa, com o período de gozo sendo antecipadamente definido de forma individual, conforme planejamento de cada setor do </a:t>
            </a:r>
            <a:r>
              <a:rPr lang="pt-BR" sz="2000" b="1" dirty="0">
                <a:latin typeface="+mn-lt"/>
              </a:rPr>
              <a:t>GRUPO SENA</a:t>
            </a:r>
            <a:r>
              <a:rPr lang="pt-BR" sz="2000" dirty="0">
                <a:latin typeface="+mn-lt"/>
              </a:rPr>
              <a:t>, junto ao superior imediato.</a:t>
            </a:r>
          </a:p>
        </p:txBody>
      </p:sp>
    </p:spTree>
    <p:extLst>
      <p:ext uri="{BB962C8B-B14F-4D97-AF65-F5344CB8AC3E}">
        <p14:creationId xmlns:p14="http://schemas.microsoft.com/office/powerpoint/2010/main" val="24513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19">
            <a:extLst>
              <a:ext uri="{FF2B5EF4-FFF2-40B4-BE49-F238E27FC236}">
                <a16:creationId xmlns:a16="http://schemas.microsoft.com/office/drawing/2014/main" id="{C95B82D5-A8BB-45BF-BED8-C7B206892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rgbClr val="1D48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9">
            <a:extLst>
              <a:ext uri="{FF2B5EF4-FFF2-40B4-BE49-F238E27FC236}">
                <a16:creationId xmlns:a16="http://schemas.microsoft.com/office/drawing/2014/main" id="{296C61EC-FBF4-4216-BE67-6C864D30A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2" y="484632"/>
            <a:ext cx="366674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spaço Reservado para Conteúdo 5" descr="Uma imagem contendo desenho&#10;&#10;Descrição gerada automaticamente">
            <a:extLst>
              <a:ext uri="{FF2B5EF4-FFF2-40B4-BE49-F238E27FC236}">
                <a16:creationId xmlns:a16="http://schemas.microsoft.com/office/drawing/2014/main" id="{8AE2CADF-434F-4905-BC37-23B182CE88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757" y="803049"/>
            <a:ext cx="2648494" cy="2470743"/>
          </a:xfrm>
          <a:prstGeom prst="rect">
            <a:avLst/>
          </a:prstGeom>
          <a:effectLst/>
        </p:spPr>
      </p:pic>
      <p:pic>
        <p:nvPicPr>
          <p:cNvPr id="8" name="Espaço Reservado para Conteúdo 7" descr="Uma imagem contendo atletismo, surf&#10;&#10;Descrição gerada automaticamente">
            <a:extLst>
              <a:ext uri="{FF2B5EF4-FFF2-40B4-BE49-F238E27FC236}">
                <a16:creationId xmlns:a16="http://schemas.microsoft.com/office/drawing/2014/main" id="{FFD83DA5-CF74-45DF-93A4-70604C833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72" y="3670395"/>
            <a:ext cx="3026663" cy="2020297"/>
          </a:xfrm>
          <a:prstGeom prst="rect">
            <a:avLst/>
          </a:prstGeom>
        </p:spPr>
      </p:pic>
      <p:sp>
        <p:nvSpPr>
          <p:cNvPr id="21" name="Título 20">
            <a:extLst>
              <a:ext uri="{FF2B5EF4-FFF2-40B4-BE49-F238E27FC236}">
                <a16:creationId xmlns:a16="http://schemas.microsoft.com/office/drawing/2014/main" id="{D936C173-B386-4FF7-AFC0-FBF2D3B9D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6048" y="165231"/>
            <a:ext cx="2958342" cy="83676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500" b="1" i="0" u="none" strike="noStrike" kern="0" cap="none" spc="-30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  <a:latin typeface="+mn-lt"/>
              </a:rPr>
              <a:t>BENEFÍCIOS</a:t>
            </a:r>
          </a:p>
        </p:txBody>
      </p:sp>
      <p:sp>
        <p:nvSpPr>
          <p:cNvPr id="23" name="Subtítulo 5">
            <a:extLst>
              <a:ext uri="{FF2B5EF4-FFF2-40B4-BE49-F238E27FC236}">
                <a16:creationId xmlns:a16="http://schemas.microsoft.com/office/drawing/2014/main" id="{2BBDBCD6-39B7-4CA7-B659-0EBE2A297637}"/>
              </a:ext>
            </a:extLst>
          </p:cNvPr>
          <p:cNvSpPr txBox="1">
            <a:spLocks noGrp="1"/>
          </p:cNvSpPr>
          <p:nvPr>
            <p:ph sz="half" idx="1"/>
          </p:nvPr>
        </p:nvSpPr>
        <p:spPr bwMode="auto">
          <a:xfrm>
            <a:off x="4956047" y="4515250"/>
            <a:ext cx="6936965" cy="2177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pt-BR" sz="2000" b="1" dirty="0">
                <a:latin typeface="+mn-lt"/>
              </a:rPr>
              <a:t>UNIFORME</a:t>
            </a:r>
          </a:p>
          <a:p>
            <a:pPr marL="365125" indent="0" algn="just">
              <a:lnSpc>
                <a:spcPct val="114000"/>
              </a:lnSpc>
              <a:spcBef>
                <a:spcPts val="0"/>
              </a:spcBef>
              <a:buNone/>
              <a:defRPr/>
            </a:pPr>
            <a:r>
              <a:rPr lang="pt-BR" sz="2000" dirty="0">
                <a:latin typeface="+mn-lt"/>
              </a:rPr>
              <a:t>O uniforme fornecido pela empresa é de uso obrigatório durante a jornada de trabalho para todos os colaboradores do </a:t>
            </a:r>
            <a:r>
              <a:rPr lang="pt-BR" sz="2000" b="1" dirty="0">
                <a:latin typeface="+mn-lt"/>
              </a:rPr>
              <a:t>GRUPO SENA</a:t>
            </a:r>
            <a:r>
              <a:rPr lang="pt-BR" sz="2000" dirty="0">
                <a:latin typeface="+mn-lt"/>
              </a:rPr>
              <a:t>, atentando-se sempre com a higiene pessoal e limpeza do mesmo, e tendo bom senso com acessórios e demais complementos utilizados no dia a dia.</a:t>
            </a:r>
          </a:p>
        </p:txBody>
      </p:sp>
      <p:sp>
        <p:nvSpPr>
          <p:cNvPr id="9" name="Subtítulo 5">
            <a:extLst>
              <a:ext uri="{FF2B5EF4-FFF2-40B4-BE49-F238E27FC236}">
                <a16:creationId xmlns:a16="http://schemas.microsoft.com/office/drawing/2014/main" id="{2858E40F-55F1-4B10-A123-6EC98B622FC7}"/>
              </a:ext>
            </a:extLst>
          </p:cNvPr>
          <p:cNvSpPr txBox="1">
            <a:spLocks/>
          </p:cNvSpPr>
          <p:nvPr/>
        </p:nvSpPr>
        <p:spPr bwMode="auto">
          <a:xfrm>
            <a:off x="4956048" y="1243763"/>
            <a:ext cx="6936965" cy="287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 anchor="ctr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pt-BR" sz="2000" b="1" dirty="0">
                <a:latin typeface="+mn-lt"/>
              </a:rPr>
              <a:t>VALE-TRANSPORTE ou AJUDA DE CUSTO</a:t>
            </a:r>
          </a:p>
          <a:p>
            <a:pPr marL="365125" indent="0" algn="just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pPr>
            <a:r>
              <a:rPr lang="pt-BR" sz="2000" dirty="0">
                <a:latin typeface="+mn-lt"/>
              </a:rPr>
              <a:t>Oferecido mensalmente para aqueles colaboradores que precisam se locomover por transporte público ou veículo particular, sendo o mesmo repassado no 1º dia útil do mês corrente, devidamente calculados os dias úteis a serem trabalhados e multiplicados pela quantidade de vales a serem utilizados diariamente, e em caso da ajuda de custo, a quilometragem medida entre “casa – trabalho – casa”.</a:t>
            </a:r>
          </a:p>
        </p:txBody>
      </p:sp>
    </p:spTree>
    <p:extLst>
      <p:ext uri="{BB962C8B-B14F-4D97-AF65-F5344CB8AC3E}">
        <p14:creationId xmlns:p14="http://schemas.microsoft.com/office/powerpoint/2010/main" val="403607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 build="p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FF16B52-A7AD-4E30-A827-64010E0C7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534" y="94438"/>
            <a:ext cx="2439572" cy="7884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fontAlgn="auto">
              <a:lnSpc>
                <a:spcPct val="114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b="1" i="0" u="none" strike="noStrike" cap="none" spc="-300" normalizeH="0" baseline="0" noProof="0" dirty="0">
                <a:ln>
                  <a:noFill/>
                </a:ln>
                <a:effectLst/>
                <a:uLnTx/>
                <a:uFillTx/>
                <a:latin typeface="+mn-lt"/>
              </a:rPr>
              <a:t>CASUAL DAY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4A809D5-3600-46D4-A466-67F2349A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5320" y="2316480"/>
            <a:ext cx="4572000" cy="0"/>
          </a:xfrm>
          <a:prstGeom prst="straightConnector1">
            <a:avLst/>
          </a:prstGeom>
          <a:ln w="19050" cap="sq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Subtítulo 5">
            <a:extLst>
              <a:ext uri="{FF2B5EF4-FFF2-40B4-BE49-F238E27FC236}">
                <a16:creationId xmlns:a16="http://schemas.microsoft.com/office/drawing/2014/main" id="{B882234F-4B15-45B1-878F-F8105BC8A743}"/>
              </a:ext>
            </a:extLst>
          </p:cNvPr>
          <p:cNvSpPr txBox="1">
            <a:spLocks/>
          </p:cNvSpPr>
          <p:nvPr/>
        </p:nvSpPr>
        <p:spPr bwMode="auto">
          <a:xfrm>
            <a:off x="432971" y="1041649"/>
            <a:ext cx="5120113" cy="22220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just">
              <a:lnSpc>
                <a:spcPct val="114000"/>
              </a:lnSpc>
            </a:pPr>
            <a:r>
              <a:rPr lang="en-US" sz="2000" dirty="0" err="1">
                <a:solidFill>
                  <a:srgbClr val="FF0000"/>
                </a:solidFill>
                <a:latin typeface="+mn-lt"/>
                <a:cs typeface="+mn-cs"/>
              </a:rPr>
              <a:t>Fica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+mn-cs"/>
              </a:rPr>
              <a:t> autorizado o uso de outras </a:t>
            </a:r>
            <a:r>
              <a:rPr lang="en-US" sz="2000" dirty="0" err="1">
                <a:solidFill>
                  <a:srgbClr val="FF0000"/>
                </a:solidFill>
                <a:latin typeface="+mn-lt"/>
                <a:cs typeface="+mn-cs"/>
              </a:rPr>
              <a:t>roupas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+mn-cs"/>
              </a:rPr>
              <a:t>, que não o </a:t>
            </a:r>
            <a:r>
              <a:rPr lang="en-US" sz="2000" dirty="0" err="1">
                <a:solidFill>
                  <a:srgbClr val="FF0000"/>
                </a:solidFill>
                <a:latin typeface="+mn-lt"/>
                <a:cs typeface="+mn-cs"/>
              </a:rPr>
              <a:t>uniforme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+mn-cs"/>
              </a:rPr>
              <a:t>, </a:t>
            </a:r>
            <a:r>
              <a:rPr lang="en-US" sz="2000" b="1" u="sng" dirty="0">
                <a:solidFill>
                  <a:srgbClr val="FF0000"/>
                </a:solidFill>
                <a:latin typeface="+mn-lt"/>
                <a:cs typeface="+mn-cs"/>
              </a:rPr>
              <a:t>nas </a:t>
            </a:r>
            <a:r>
              <a:rPr lang="en-US" sz="2000" b="1" u="sng" dirty="0" err="1">
                <a:solidFill>
                  <a:srgbClr val="FF0000"/>
                </a:solidFill>
                <a:latin typeface="+mn-lt"/>
                <a:cs typeface="+mn-cs"/>
              </a:rPr>
              <a:t>sextas-feiras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+mn-cs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+mn-lt"/>
                <a:cs typeface="+mn-cs"/>
              </a:rPr>
              <a:t>desde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+mn-cs"/>
              </a:rPr>
              <a:t> que </a:t>
            </a:r>
            <a:r>
              <a:rPr lang="en-US" sz="2000" dirty="0" err="1">
                <a:solidFill>
                  <a:srgbClr val="FF0000"/>
                </a:solidFill>
                <a:latin typeface="+mn-lt"/>
                <a:cs typeface="+mn-cs"/>
              </a:rPr>
              <a:t>haja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bom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senso</a:t>
            </a: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 em sua </a:t>
            </a:r>
            <a:r>
              <a:rPr lang="en-US" sz="2000" b="1" dirty="0" err="1">
                <a:solidFill>
                  <a:srgbClr val="FF0000"/>
                </a:solidFill>
                <a:latin typeface="+mn-lt"/>
                <a:cs typeface="+mn-cs"/>
              </a:rPr>
              <a:t>utilização</a:t>
            </a:r>
            <a:r>
              <a:rPr lang="en-US" sz="2000" dirty="0">
                <a:solidFill>
                  <a:srgbClr val="FF0000"/>
                </a:solidFill>
                <a:latin typeface="+mn-lt"/>
                <a:cs typeface="+mn-cs"/>
              </a:rPr>
              <a:t>. </a:t>
            </a:r>
          </a:p>
          <a:p>
            <a:pPr indent="-228600" algn="ctr">
              <a:lnSpc>
                <a:spcPct val="114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+mn-lt"/>
              <a:cs typeface="+mn-cs"/>
            </a:endParaRPr>
          </a:p>
          <a:p>
            <a:pPr marL="0" indent="0" algn="ctr">
              <a:lnSpc>
                <a:spcPct val="114000"/>
              </a:lnSpc>
            </a:pPr>
            <a:r>
              <a:rPr lang="en-US" sz="2000" b="1" dirty="0">
                <a:latin typeface="+mn-lt"/>
                <a:cs typeface="+mn-cs"/>
              </a:rPr>
              <a:t>Caso não sejam </a:t>
            </a:r>
            <a:r>
              <a:rPr lang="en-US" sz="2000" b="1" dirty="0" err="1">
                <a:latin typeface="+mn-lt"/>
                <a:cs typeface="+mn-cs"/>
              </a:rPr>
              <a:t>respeitadas</a:t>
            </a:r>
            <a:r>
              <a:rPr lang="en-US" sz="2000" b="1" dirty="0">
                <a:latin typeface="+mn-lt"/>
                <a:cs typeface="+mn-cs"/>
              </a:rPr>
              <a:t> as </a:t>
            </a:r>
            <a:r>
              <a:rPr lang="en-US" sz="2000" b="1" dirty="0" err="1">
                <a:latin typeface="+mn-lt"/>
                <a:cs typeface="+mn-cs"/>
              </a:rPr>
              <a:t>regras</a:t>
            </a:r>
            <a:r>
              <a:rPr lang="en-US" sz="2000" b="1" dirty="0">
                <a:latin typeface="+mn-lt"/>
                <a:cs typeface="+mn-cs"/>
              </a:rPr>
              <a:t>, o colaborador </a:t>
            </a:r>
            <a:r>
              <a:rPr lang="en-US" sz="2000" b="1" dirty="0" err="1">
                <a:latin typeface="+mn-lt"/>
                <a:cs typeface="+mn-cs"/>
              </a:rPr>
              <a:t>será</a:t>
            </a:r>
            <a:r>
              <a:rPr lang="en-US" sz="2000" b="1" dirty="0">
                <a:latin typeface="+mn-lt"/>
                <a:cs typeface="+mn-cs"/>
              </a:rPr>
              <a:t> </a:t>
            </a:r>
            <a:r>
              <a:rPr lang="en-US" sz="2000" b="1" dirty="0" err="1">
                <a:latin typeface="+mn-lt"/>
                <a:cs typeface="+mn-cs"/>
              </a:rPr>
              <a:t>advertido</a:t>
            </a:r>
            <a:r>
              <a:rPr lang="en-US" sz="2000" b="1" dirty="0">
                <a:latin typeface="+mn-lt"/>
                <a:cs typeface="+mn-cs"/>
              </a:rPr>
              <a:t>. </a:t>
            </a:r>
            <a:endParaRPr lang="en-US" sz="2000" b="1" u="sng" dirty="0">
              <a:latin typeface="+mn-lt"/>
              <a:cs typeface="+mn-cs"/>
            </a:endParaRPr>
          </a:p>
        </p:txBody>
      </p:sp>
      <p:pic>
        <p:nvPicPr>
          <p:cNvPr id="7" name="Espaço Reservado para Conteúdo 6" descr="Foto editada de grupo de pessoas posando para foto&#10;&#10;Descrição gerada automaticamente">
            <a:extLst>
              <a:ext uri="{FF2B5EF4-FFF2-40B4-BE49-F238E27FC236}">
                <a16:creationId xmlns:a16="http://schemas.microsoft.com/office/drawing/2014/main" id="{7DDF85EC-1795-4C51-A9AA-38EA143F4A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5"/>
          <a:stretch/>
        </p:blipFill>
        <p:spPr>
          <a:xfrm>
            <a:off x="5878849" y="10"/>
            <a:ext cx="6313150" cy="6857987"/>
          </a:xfrm>
          <a:custGeom>
            <a:avLst/>
            <a:gdLst>
              <a:gd name="connsiteX0" fmla="*/ 65565 w 6313150"/>
              <a:gd name="connsiteY0" fmla="*/ 0 h 6857997"/>
              <a:gd name="connsiteX1" fmla="*/ 6313150 w 6313150"/>
              <a:gd name="connsiteY1" fmla="*/ 0 h 6857997"/>
              <a:gd name="connsiteX2" fmla="*/ 6313150 w 6313150"/>
              <a:gd name="connsiteY2" fmla="*/ 6857997 h 6857997"/>
              <a:gd name="connsiteX3" fmla="*/ 3293946 w 6313150"/>
              <a:gd name="connsiteY3" fmla="*/ 6857997 h 6857997"/>
              <a:gd name="connsiteX4" fmla="*/ 3235857 w 6313150"/>
              <a:gd name="connsiteY4" fmla="*/ 6823061 h 6857997"/>
              <a:gd name="connsiteX5" fmla="*/ 0 w 6313150"/>
              <a:gd name="connsiteY5" fmla="*/ 951803 h 6857997"/>
              <a:gd name="connsiteX6" fmla="*/ 31536 w 6313150"/>
              <a:gd name="connsiteY6" fmla="*/ 285771 h 685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13150" h="6857997">
                <a:moveTo>
                  <a:pt x="65565" y="0"/>
                </a:moveTo>
                <a:lnTo>
                  <a:pt x="6313150" y="0"/>
                </a:lnTo>
                <a:lnTo>
                  <a:pt x="6313150" y="6857997"/>
                </a:lnTo>
                <a:lnTo>
                  <a:pt x="3293946" y="6857997"/>
                </a:lnTo>
                <a:lnTo>
                  <a:pt x="3235857" y="6823061"/>
                </a:lnTo>
                <a:cubicBezTo>
                  <a:pt x="1291240" y="5592803"/>
                  <a:pt x="0" y="3423096"/>
                  <a:pt x="0" y="951803"/>
                </a:cubicBezTo>
                <a:cubicBezTo>
                  <a:pt x="0" y="727140"/>
                  <a:pt x="10673" y="504970"/>
                  <a:pt x="31536" y="285771"/>
                </a:cubicBezTo>
                <a:close/>
              </a:path>
            </a:pathLst>
          </a:custGeom>
        </p:spPr>
      </p:pic>
      <p:sp>
        <p:nvSpPr>
          <p:cNvPr id="19" name="Subtítulo 5">
            <a:extLst>
              <a:ext uri="{FF2B5EF4-FFF2-40B4-BE49-F238E27FC236}">
                <a16:creationId xmlns:a16="http://schemas.microsoft.com/office/drawing/2014/main" id="{CD3A6C46-DC95-40AC-A0F8-4F7CD5352655}"/>
              </a:ext>
            </a:extLst>
          </p:cNvPr>
          <p:cNvSpPr txBox="1">
            <a:spLocks/>
          </p:cNvSpPr>
          <p:nvPr/>
        </p:nvSpPr>
        <p:spPr bwMode="auto">
          <a:xfrm>
            <a:off x="126081" y="3275845"/>
            <a:ext cx="5752768" cy="3548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just">
              <a:lnSpc>
                <a:spcPct val="114000"/>
              </a:lnSpc>
              <a:buClr>
                <a:srgbClr val="39AEA9"/>
              </a:buClr>
              <a:defRPr/>
            </a:pPr>
            <a:r>
              <a:rPr lang="pt-BR" b="1" dirty="0">
                <a:solidFill>
                  <a:srgbClr val="FF0066"/>
                </a:solidFill>
                <a:latin typeface="+mn-lt"/>
              </a:rPr>
              <a:t>MULHERES:</a:t>
            </a:r>
          </a:p>
          <a:p>
            <a:pPr marL="0" indent="0" algn="just">
              <a:lnSpc>
                <a:spcPct val="114000"/>
              </a:lnSpc>
              <a:buClr>
                <a:srgbClr val="39AEA9"/>
              </a:buClr>
              <a:defRPr/>
            </a:pPr>
            <a:r>
              <a:rPr lang="pt-BR" dirty="0">
                <a:latin typeface="+mn-lt"/>
              </a:rPr>
              <a:t>Camisa social, camisete, blusa ou malha </a:t>
            </a:r>
            <a:r>
              <a:rPr lang="pt-BR" dirty="0" err="1">
                <a:latin typeface="+mn-lt"/>
              </a:rPr>
              <a:t>pólo</a:t>
            </a:r>
            <a:r>
              <a:rPr lang="pt-BR" dirty="0">
                <a:latin typeface="+mn-lt"/>
              </a:rPr>
              <a:t>, calça social ou jeans (sem detalhes), saias e/ou vestidos até os joelhos, sapatos fechados, </a:t>
            </a:r>
            <a:r>
              <a:rPr lang="pt-BR" dirty="0" err="1">
                <a:latin typeface="+mn-lt"/>
              </a:rPr>
              <a:t>peep</a:t>
            </a:r>
            <a:r>
              <a:rPr lang="pt-BR" dirty="0">
                <a:latin typeface="+mn-lt"/>
              </a:rPr>
              <a:t> toe, sandálias de salto e/ou bota cano alto.</a:t>
            </a:r>
          </a:p>
          <a:p>
            <a:pPr marL="0" indent="0" algn="just">
              <a:lnSpc>
                <a:spcPct val="114000"/>
              </a:lnSpc>
              <a:buClr>
                <a:srgbClr val="39AEA9"/>
              </a:buClr>
              <a:defRPr/>
            </a:pPr>
            <a:endParaRPr lang="pt-BR" dirty="0">
              <a:latin typeface="+mn-lt"/>
            </a:endParaRPr>
          </a:p>
          <a:p>
            <a:pPr marL="0" indent="0" algn="just">
              <a:lnSpc>
                <a:spcPct val="114000"/>
              </a:lnSpc>
              <a:buClr>
                <a:srgbClr val="39AEA9"/>
              </a:buClr>
              <a:defRPr/>
            </a:pPr>
            <a:r>
              <a:rPr lang="pt-BR" b="1" dirty="0">
                <a:solidFill>
                  <a:srgbClr val="0070C0"/>
                </a:solidFill>
                <a:latin typeface="+mn-lt"/>
              </a:rPr>
              <a:t>HOMENS:</a:t>
            </a:r>
          </a:p>
          <a:p>
            <a:pPr marL="0" indent="0" algn="just">
              <a:lnSpc>
                <a:spcPct val="114000"/>
              </a:lnSpc>
              <a:buClr>
                <a:srgbClr val="39AEA9"/>
              </a:buClr>
              <a:defRPr/>
            </a:pPr>
            <a:r>
              <a:rPr lang="pt-BR" dirty="0">
                <a:latin typeface="+mn-lt"/>
              </a:rPr>
              <a:t>Camisa social, blusa polo lisa ou listrada de manga curta ou comprida, calça jeans sem detalhes, nas cores  azul, preta ou bege, sapatos e/ou </a:t>
            </a:r>
            <a:r>
              <a:rPr lang="pt-BR" dirty="0" err="1">
                <a:latin typeface="+mn-lt"/>
              </a:rPr>
              <a:t>sapatênis</a:t>
            </a:r>
            <a:r>
              <a:rPr lang="pt-BR" dirty="0">
                <a:latin typeface="+mn-lt"/>
              </a:rPr>
              <a:t> nas cores marrom escuro, cinza, azul marinho ou preto.</a:t>
            </a:r>
          </a:p>
        </p:txBody>
      </p:sp>
      <p:sp>
        <p:nvSpPr>
          <p:cNvPr id="21" name="Subtítulo 5">
            <a:extLst>
              <a:ext uri="{FF2B5EF4-FFF2-40B4-BE49-F238E27FC236}">
                <a16:creationId xmlns:a16="http://schemas.microsoft.com/office/drawing/2014/main" id="{2E4D9498-CFD7-4D44-92EF-2B6F3E2C5EE6}"/>
              </a:ext>
            </a:extLst>
          </p:cNvPr>
          <p:cNvSpPr txBox="1">
            <a:spLocks/>
          </p:cNvSpPr>
          <p:nvPr/>
        </p:nvSpPr>
        <p:spPr bwMode="auto">
          <a:xfrm>
            <a:off x="6768651" y="4780873"/>
            <a:ext cx="5297268" cy="204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just">
              <a:lnSpc>
                <a:spcPct val="114000"/>
              </a:lnSpc>
              <a:buClr>
                <a:srgbClr val="39AEA9"/>
              </a:buClr>
              <a:defRPr/>
            </a:pPr>
            <a:r>
              <a:rPr lang="pt-BR" sz="1400" b="1" dirty="0">
                <a:latin typeface="+mn-lt"/>
              </a:rPr>
              <a:t>Não será permitido o uso de:</a:t>
            </a:r>
          </a:p>
          <a:p>
            <a:pPr marL="182563" lvl="1" indent="-182563" algn="just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latin typeface="+mn-lt"/>
              </a:rPr>
              <a:t>Gorros e bonés; Camisetas de Malha; Camisetas cavadas e de times;</a:t>
            </a:r>
          </a:p>
          <a:p>
            <a:pPr marL="182563" lvl="1" indent="-182563" algn="just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latin typeface="+mn-lt"/>
              </a:rPr>
              <a:t>Camisetas de academia ou musculação;</a:t>
            </a:r>
          </a:p>
          <a:p>
            <a:pPr marL="182563" lvl="1" indent="-182563" algn="just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latin typeface="+mn-lt"/>
              </a:rPr>
              <a:t>Bermudas, saias ou vestidos curtos e colados, decotes; Calças com bordados, lavagens e rasgadas;</a:t>
            </a:r>
          </a:p>
          <a:p>
            <a:pPr marL="182563" lvl="1" indent="-182563" algn="just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latin typeface="+mn-lt"/>
              </a:rPr>
              <a:t>Blusas de frio de moletom e/ou jaquetas esportivas;</a:t>
            </a:r>
          </a:p>
          <a:p>
            <a:pPr marL="182563" lvl="1" indent="-182563" algn="just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latin typeface="+mn-lt"/>
              </a:rPr>
              <a:t>Blusinhas com barriga à mostra e tomara que caia;</a:t>
            </a:r>
          </a:p>
          <a:p>
            <a:pPr marL="182563" lvl="1" indent="-182563" algn="just">
              <a:lnSpc>
                <a:spcPct val="114000"/>
              </a:lnSpc>
              <a:buFont typeface="Wingdings" panose="05000000000000000000" pitchFamily="2" charset="2"/>
              <a:buChar char="Ø"/>
              <a:defRPr/>
            </a:pPr>
            <a:r>
              <a:rPr lang="pt-BR" sz="1400" dirty="0">
                <a:latin typeface="+mn-lt"/>
              </a:rPr>
              <a:t>Chinelos, tênis e/ou rasteirinhas, Calças Legging e/ou montaria.</a:t>
            </a:r>
          </a:p>
        </p:txBody>
      </p:sp>
    </p:spTree>
    <p:extLst>
      <p:ext uri="{BB962C8B-B14F-4D97-AF65-F5344CB8AC3E}">
        <p14:creationId xmlns:p14="http://schemas.microsoft.com/office/powerpoint/2010/main" val="2552349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8" grpId="0"/>
      <p:bldP spid="19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 descr="Uma imagem contendo mesa&#10;&#10;Descrição gerada automaticamente">
            <a:extLst>
              <a:ext uri="{FF2B5EF4-FFF2-40B4-BE49-F238E27FC236}">
                <a16:creationId xmlns:a16="http://schemas.microsoft.com/office/drawing/2014/main" id="{3B110A32-85AF-454B-90A1-B4BBD046BD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2" b="21235"/>
          <a:stretch/>
        </p:blipFill>
        <p:spPr>
          <a:xfrm>
            <a:off x="6083786" y="-168316"/>
            <a:ext cx="6261330" cy="3932313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6" name="Espaço Reservado para Conteúdo 5" descr="Uma imagem contendo desenho&#10;&#10;Descrição gerada automaticamente">
            <a:extLst>
              <a:ext uri="{FF2B5EF4-FFF2-40B4-BE49-F238E27FC236}">
                <a16:creationId xmlns:a16="http://schemas.microsoft.com/office/drawing/2014/main" id="{EE227A60-964B-4E4B-8125-767AE6E6BC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6" r="-1" b="11208"/>
          <a:stretch/>
        </p:blipFill>
        <p:spPr>
          <a:xfrm>
            <a:off x="6089904" y="2487166"/>
            <a:ext cx="6263640" cy="4215384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901FED-4FC9-4ED5-8123-C98BCD161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E245236F-BCC2-4E2F-AE3B-B602750B03AD}"/>
              </a:ext>
            </a:extLst>
          </p:cNvPr>
          <p:cNvSpPr/>
          <p:nvPr/>
        </p:nvSpPr>
        <p:spPr>
          <a:xfrm>
            <a:off x="0" y="106465"/>
            <a:ext cx="2489241" cy="63850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5000" b="0" i="0" u="none" strike="noStrike" kern="0" cap="none" spc="-30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  <a:latin typeface="Century Gothic" panose="020B0502020202020204" pitchFamily="34" charset="0"/>
              </a:rPr>
              <a:t>REGRAS 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E1695E3-AF87-4065-B6B2-E4A39B44A2AD}"/>
              </a:ext>
            </a:extLst>
          </p:cNvPr>
          <p:cNvSpPr/>
          <p:nvPr/>
        </p:nvSpPr>
        <p:spPr>
          <a:xfrm>
            <a:off x="293047" y="669700"/>
            <a:ext cx="3125402" cy="8535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0" b="1" i="0" u="none" strike="noStrike" kern="0" cap="none" spc="-30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  <a:latin typeface="Century Gothic" panose="020B0502020202020204" pitchFamily="34" charset="0"/>
              </a:rPr>
              <a:t>GERAIS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6D39A9D-62F1-4466-9B04-2958CB044465}"/>
              </a:ext>
            </a:extLst>
          </p:cNvPr>
          <p:cNvSpPr/>
          <p:nvPr/>
        </p:nvSpPr>
        <p:spPr>
          <a:xfrm>
            <a:off x="-15175" y="1345134"/>
            <a:ext cx="6443980" cy="129982"/>
          </a:xfrm>
          <a:prstGeom prst="rect">
            <a:avLst/>
          </a:prstGeom>
          <a:solidFill>
            <a:srgbClr val="661302"/>
          </a:solidFill>
          <a:ln w="10477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BB3D05"/>
              </a:solidFill>
              <a:effectLst/>
              <a:uLnTx/>
              <a:uFillTx/>
            </a:endParaRPr>
          </a:p>
        </p:txBody>
      </p:sp>
      <p:sp>
        <p:nvSpPr>
          <p:cNvPr id="9" name="Subtítulo 5">
            <a:extLst>
              <a:ext uri="{FF2B5EF4-FFF2-40B4-BE49-F238E27FC236}">
                <a16:creationId xmlns:a16="http://schemas.microsoft.com/office/drawing/2014/main" id="{A8525AE9-06C7-46EF-AE60-CD37F6662CBB}"/>
              </a:ext>
            </a:extLst>
          </p:cNvPr>
          <p:cNvSpPr txBox="1">
            <a:spLocks/>
          </p:cNvSpPr>
          <p:nvPr/>
        </p:nvSpPr>
        <p:spPr bwMode="auto">
          <a:xfrm>
            <a:off x="177622" y="4229446"/>
            <a:ext cx="5918378" cy="228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 anchor="ctr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100" b="1" dirty="0">
                <a:latin typeface="+mn-lt"/>
              </a:rPr>
              <a:t>MULTAS DE GUIAS E OBRIGAÇÕES</a:t>
            </a:r>
          </a:p>
          <a:p>
            <a:pPr marL="266700" indent="0" algn="just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2100" dirty="0">
                <a:latin typeface="+mn-lt"/>
              </a:rPr>
              <a:t>Ocorrendo multas de guias ou obrigações acessórias por  dolo na entrega, o valor equivalente a 50% será descontado e divido entre o colaborador responsável e o superior imediato, e os outros 50% serão arcados pelo </a:t>
            </a:r>
            <a:r>
              <a:rPr lang="pt-BR" sz="2100" b="1" dirty="0">
                <a:latin typeface="+mn-lt"/>
              </a:rPr>
              <a:t>GRUPO SENA</a:t>
            </a:r>
            <a:r>
              <a:rPr lang="pt-BR" sz="2100" dirty="0">
                <a:latin typeface="+mn-lt"/>
              </a:rPr>
              <a:t>.</a:t>
            </a:r>
            <a:endParaRPr lang="pt-BR" sz="21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02E8307-BBEF-4C2F-BC40-379F24CBF270}"/>
              </a:ext>
            </a:extLst>
          </p:cNvPr>
          <p:cNvSpPr txBox="1"/>
          <p:nvPr/>
        </p:nvSpPr>
        <p:spPr>
          <a:xfrm>
            <a:off x="182459" y="2022109"/>
            <a:ext cx="5918378" cy="1913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pt-BR" sz="2100" b="1" dirty="0"/>
              <a:t>CELULAR PARTICULAR</a:t>
            </a:r>
          </a:p>
          <a:p>
            <a:pPr>
              <a:lnSpc>
                <a:spcPct val="114000"/>
              </a:lnSpc>
            </a:pPr>
            <a:r>
              <a:rPr lang="pt-BR" sz="2100" dirty="0"/>
              <a:t>O uso do </a:t>
            </a:r>
            <a:r>
              <a:rPr lang="pt-BR" sz="2100" u="sng" dirty="0"/>
              <a:t>CELULAR PARTICULAR </a:t>
            </a:r>
            <a:r>
              <a:rPr lang="pt-BR" sz="2100" dirty="0"/>
              <a:t>é proibido durante o horário de trabalho, sendo passível de advertência o seu uso inadequado, incoerente e em excesso</a:t>
            </a:r>
            <a:r>
              <a:rPr lang="pt-BR" sz="2100" i="1" dirty="0"/>
              <a:t>.</a:t>
            </a:r>
            <a:endParaRPr lang="pt-BR" sz="2100" b="1" dirty="0"/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endParaRPr lang="pt-BR" sz="2100" dirty="0"/>
          </a:p>
        </p:txBody>
      </p:sp>
    </p:spTree>
    <p:extLst>
      <p:ext uri="{BB962C8B-B14F-4D97-AF65-F5344CB8AC3E}">
        <p14:creationId xmlns:p14="http://schemas.microsoft.com/office/powerpoint/2010/main" val="14462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9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 descr="Uma imagem contendo mesa&#10;&#10;Descrição gerada automaticamente">
            <a:extLst>
              <a:ext uri="{FF2B5EF4-FFF2-40B4-BE49-F238E27FC236}">
                <a16:creationId xmlns:a16="http://schemas.microsoft.com/office/drawing/2014/main" id="{3B110A32-85AF-454B-90A1-B4BBD046BD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2" b="21235"/>
          <a:stretch/>
        </p:blipFill>
        <p:spPr>
          <a:xfrm>
            <a:off x="6083786" y="-168316"/>
            <a:ext cx="6261330" cy="3932313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6" name="Espaço Reservado para Conteúdo 5" descr="Uma imagem contendo desenho&#10;&#10;Descrição gerada automaticamente">
            <a:extLst>
              <a:ext uri="{FF2B5EF4-FFF2-40B4-BE49-F238E27FC236}">
                <a16:creationId xmlns:a16="http://schemas.microsoft.com/office/drawing/2014/main" id="{EE227A60-964B-4E4B-8125-767AE6E6BC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6" r="-1" b="11208"/>
          <a:stretch/>
        </p:blipFill>
        <p:spPr>
          <a:xfrm>
            <a:off x="6089904" y="2487166"/>
            <a:ext cx="6263640" cy="4215384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901FED-4FC9-4ED5-8123-C98BCD161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4">
            <a:extLst>
              <a:ext uri="{FF2B5EF4-FFF2-40B4-BE49-F238E27FC236}">
                <a16:creationId xmlns:a16="http://schemas.microsoft.com/office/drawing/2014/main" id="{BCAE4060-6291-48C2-BAED-7E47D2C9A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91" y="406383"/>
            <a:ext cx="3027483" cy="694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fontAlgn="auto">
              <a:lnSpc>
                <a:spcPct val="114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b="1" spc="-300" dirty="0">
                <a:solidFill>
                  <a:srgbClr val="BB3D05"/>
                </a:solidFill>
                <a:latin typeface="+mn-lt"/>
              </a:rPr>
              <a:t>ORGANIZAÇÃO</a:t>
            </a:r>
            <a:endParaRPr kumimoji="0" lang="en-US" b="1" i="0" u="none" strike="noStrike" cap="none" spc="-300" normalizeH="0" baseline="0" noProof="0" dirty="0">
              <a:ln>
                <a:noFill/>
              </a:ln>
              <a:solidFill>
                <a:srgbClr val="BB3D05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0" name="Subtítulo 5">
            <a:extLst>
              <a:ext uri="{FF2B5EF4-FFF2-40B4-BE49-F238E27FC236}">
                <a16:creationId xmlns:a16="http://schemas.microsoft.com/office/drawing/2014/main" id="{19C849B3-EBD3-4D23-BA30-1A23FD980709}"/>
              </a:ext>
            </a:extLst>
          </p:cNvPr>
          <p:cNvSpPr txBox="1">
            <a:spLocks/>
          </p:cNvSpPr>
          <p:nvPr/>
        </p:nvSpPr>
        <p:spPr bwMode="auto">
          <a:xfrm>
            <a:off x="-8428" y="1079442"/>
            <a:ext cx="6261330" cy="1124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 anchor="ctr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pt-BR" sz="2000" i="1" dirty="0">
                <a:latin typeface="+mn-lt"/>
              </a:rPr>
              <a:t>“É dever de todo colaborador zelar pela limpeza e manutenção do escritório”</a:t>
            </a:r>
            <a:r>
              <a:rPr lang="pt-BR" sz="2000" dirty="0">
                <a:latin typeface="+mn-lt"/>
              </a:rPr>
              <a:t>, e esta tarefa se torna mais fácil adotando estes cuidados básicos: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FD3312F-0E57-4FF7-A186-EBF6EBCB6A04}"/>
              </a:ext>
            </a:extLst>
          </p:cNvPr>
          <p:cNvSpPr/>
          <p:nvPr/>
        </p:nvSpPr>
        <p:spPr>
          <a:xfrm>
            <a:off x="0" y="150259"/>
            <a:ext cx="3179298" cy="5509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000" kern="0" spc="-300" dirty="0">
                <a:solidFill>
                  <a:srgbClr val="BB3D05"/>
                </a:solidFill>
              </a:rPr>
              <a:t>Limpeza e</a:t>
            </a:r>
            <a:r>
              <a:rPr kumimoji="0" lang="pt-BR" sz="4000" b="0" i="0" u="none" strike="noStrike" kern="0" cap="none" spc="-30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</a:rPr>
              <a:t> </a:t>
            </a:r>
          </a:p>
        </p:txBody>
      </p:sp>
      <p:sp>
        <p:nvSpPr>
          <p:cNvPr id="17" name="Subtítulo 5">
            <a:extLst>
              <a:ext uri="{FF2B5EF4-FFF2-40B4-BE49-F238E27FC236}">
                <a16:creationId xmlns:a16="http://schemas.microsoft.com/office/drawing/2014/main" id="{8CF9F82E-2C47-4266-A3EC-57D12634D8C4}"/>
              </a:ext>
            </a:extLst>
          </p:cNvPr>
          <p:cNvSpPr txBox="1">
            <a:spLocks/>
          </p:cNvSpPr>
          <p:nvPr/>
        </p:nvSpPr>
        <p:spPr bwMode="auto">
          <a:xfrm>
            <a:off x="-33563" y="5031346"/>
            <a:ext cx="6673514" cy="1826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 anchor="ctr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b="1" dirty="0">
                <a:latin typeface="+mn-lt"/>
              </a:rPr>
              <a:t>Refeitório e Áreas Comuns</a:t>
            </a:r>
          </a:p>
          <a:p>
            <a:pPr marL="266700" indent="0" algn="just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2000" dirty="0">
                <a:latin typeface="+mn-lt"/>
              </a:rPr>
              <a:t>Seguir escala estabelecida para a limpeza semanal desses ambientes, visto que é de utilização de todos, e sempre atentando-se para a limpeza básica e sua manutenção após o uso de cada espaço.</a:t>
            </a:r>
            <a:endParaRPr lang="pt-BR" sz="2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F06F6BF-0AAC-4AAB-8B5E-43A2C31C75AA}"/>
              </a:ext>
            </a:extLst>
          </p:cNvPr>
          <p:cNvSpPr txBox="1"/>
          <p:nvPr/>
        </p:nvSpPr>
        <p:spPr>
          <a:xfrm>
            <a:off x="-33563" y="2263470"/>
            <a:ext cx="6507702" cy="3839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lvl="0" indent="-266700" algn="just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pt-BR" sz="2000" b="1" dirty="0"/>
              <a:t>Mesas de Trabalho</a:t>
            </a:r>
          </a:p>
          <a:p>
            <a:pPr marL="266700" lvl="0" indent="0" algn="just">
              <a:lnSpc>
                <a:spcPct val="114000"/>
              </a:lnSpc>
              <a:buNone/>
            </a:pPr>
            <a:r>
              <a:rPr lang="pt-BR" sz="2000" dirty="0"/>
              <a:t>Mantê-las sempre limpas e organizadas, evitando excesso de adereços ou outros materiais desnecessários em cima das mesmas, devendo cada colaborador fazer a limpeza geral de sua mesa diariamente ou sempre que julgar necessário. </a:t>
            </a:r>
          </a:p>
          <a:p>
            <a:pPr marL="266700" lvl="0" indent="0" algn="ctr">
              <a:lnSpc>
                <a:spcPct val="114000"/>
              </a:lnSpc>
              <a:buNone/>
            </a:pPr>
            <a:endParaRPr lang="pt-BR" sz="2000" b="1" i="1" dirty="0">
              <a:solidFill>
                <a:srgbClr val="FF0000"/>
              </a:solidFill>
            </a:endParaRPr>
          </a:p>
          <a:p>
            <a:pPr marL="266700" lvl="0" indent="0" algn="ctr">
              <a:lnSpc>
                <a:spcPct val="114000"/>
              </a:lnSpc>
              <a:buNone/>
            </a:pPr>
            <a:r>
              <a:rPr lang="pt-BR" sz="2500" b="1" i="1" dirty="0">
                <a:solidFill>
                  <a:srgbClr val="FF0000"/>
                </a:solidFill>
              </a:rPr>
              <a:t>É </a:t>
            </a:r>
            <a:r>
              <a:rPr lang="pt-BR" sz="2500" b="1" i="1" u="sng" dirty="0">
                <a:solidFill>
                  <a:srgbClr val="FF0000"/>
                </a:solidFill>
              </a:rPr>
              <a:t>expressamente proibido</a:t>
            </a:r>
            <a:r>
              <a:rPr lang="pt-BR" sz="2500" b="1" i="1" dirty="0">
                <a:solidFill>
                  <a:srgbClr val="FF0000"/>
                </a:solidFill>
              </a:rPr>
              <a:t> fazer qualquer tipo de refeição ou lanche nas mesas de trabalho, em qualquer horário do dia!</a:t>
            </a:r>
          </a:p>
        </p:txBody>
      </p:sp>
    </p:spTree>
    <p:extLst>
      <p:ext uri="{BB962C8B-B14F-4D97-AF65-F5344CB8AC3E}">
        <p14:creationId xmlns:p14="http://schemas.microsoft.com/office/powerpoint/2010/main" val="299409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7" grpId="0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 descr="Uma imagem contendo mesa&#10;&#10;Descrição gerada automaticamente">
            <a:extLst>
              <a:ext uri="{FF2B5EF4-FFF2-40B4-BE49-F238E27FC236}">
                <a16:creationId xmlns:a16="http://schemas.microsoft.com/office/drawing/2014/main" id="{3B110A32-85AF-454B-90A1-B4BBD046BD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2" b="21235"/>
          <a:stretch/>
        </p:blipFill>
        <p:spPr>
          <a:xfrm>
            <a:off x="6083786" y="-168316"/>
            <a:ext cx="6261330" cy="3932313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6" name="Espaço Reservado para Conteúdo 5" descr="Uma imagem contendo desenho&#10;&#10;Descrição gerada automaticamente">
            <a:extLst>
              <a:ext uri="{FF2B5EF4-FFF2-40B4-BE49-F238E27FC236}">
                <a16:creationId xmlns:a16="http://schemas.microsoft.com/office/drawing/2014/main" id="{EE227A60-964B-4E4B-8125-767AE6E6BC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6" r="-1" b="11208"/>
          <a:stretch/>
        </p:blipFill>
        <p:spPr>
          <a:xfrm>
            <a:off x="6089904" y="2487166"/>
            <a:ext cx="6263640" cy="4215384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901FED-4FC9-4ED5-8123-C98BCD161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ubtítulo 5">
            <a:extLst>
              <a:ext uri="{FF2B5EF4-FFF2-40B4-BE49-F238E27FC236}">
                <a16:creationId xmlns:a16="http://schemas.microsoft.com/office/drawing/2014/main" id="{650321DD-57C1-4EA9-8F14-75C9AC22664D}"/>
              </a:ext>
            </a:extLst>
          </p:cNvPr>
          <p:cNvSpPr txBox="1">
            <a:spLocks/>
          </p:cNvSpPr>
          <p:nvPr/>
        </p:nvSpPr>
        <p:spPr bwMode="auto">
          <a:xfrm>
            <a:off x="0" y="2991655"/>
            <a:ext cx="6298275" cy="2600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 anchor="ctr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1800" b="1" dirty="0">
                <a:latin typeface="+mn-lt"/>
              </a:rPr>
              <a:t>Banheiros</a:t>
            </a:r>
          </a:p>
          <a:p>
            <a:pPr marL="266700" indent="0" algn="just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1800" dirty="0">
                <a:latin typeface="+mn-lt"/>
              </a:rPr>
              <a:t>A limpeza dos banheiros dispostos no 1º andar é de responsabilidade do colaborador que trabalha na recepção, devendo fazer tal atividade 01 (vez) por semana, e manutenções diárias constantes.</a:t>
            </a:r>
          </a:p>
          <a:p>
            <a:pPr marL="266700" indent="0" algn="just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1800" dirty="0">
                <a:latin typeface="+mn-lt"/>
              </a:rPr>
              <a:t>A limpeza e manutenção dos demais banheiros ficará sob responsabilidade dos demais colaboradores, que seguirão escala determinada e acordada entre todos.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540FBF5-2192-422F-BE03-64BA539F1190}"/>
              </a:ext>
            </a:extLst>
          </p:cNvPr>
          <p:cNvSpPr txBox="1"/>
          <p:nvPr/>
        </p:nvSpPr>
        <p:spPr>
          <a:xfrm>
            <a:off x="-1" y="5699831"/>
            <a:ext cx="6185733" cy="1021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b="1" dirty="0"/>
              <a:t>Salas Privadas</a:t>
            </a:r>
          </a:p>
          <a:p>
            <a:pPr marL="266700" algn="just">
              <a:lnSpc>
                <a:spcPct val="114000"/>
              </a:lnSpc>
              <a:spcBef>
                <a:spcPts val="0"/>
              </a:spcBef>
            </a:pPr>
            <a:r>
              <a:rPr lang="pt-BR" dirty="0"/>
              <a:t>A limpeza, organização e manutenção das </a:t>
            </a:r>
            <a:r>
              <a:rPr lang="pt-BR" b="1" dirty="0"/>
              <a:t>salas “privadas”</a:t>
            </a:r>
            <a:r>
              <a:rPr lang="pt-BR" dirty="0"/>
              <a:t> é de responsabilidade de quem as ocupa.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D9FCCA-02BE-4C7E-924F-CA97B4143D75}"/>
              </a:ext>
            </a:extLst>
          </p:cNvPr>
          <p:cNvSpPr txBox="1"/>
          <p:nvPr/>
        </p:nvSpPr>
        <p:spPr>
          <a:xfrm>
            <a:off x="1" y="20538"/>
            <a:ext cx="6298274" cy="3211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lvl="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b="1" dirty="0"/>
              <a:t>Recepção e Sala de Reunião</a:t>
            </a:r>
          </a:p>
          <a:p>
            <a:pPr marL="266700" lv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pt-BR" dirty="0"/>
              <a:t>Esses ambientes deverão ser mantidos sempre limpos e organizados, sendo a limpeza e manutenção dos mesmos de responsabilidade do colaborador que ali trabalha.</a:t>
            </a:r>
          </a:p>
          <a:p>
            <a:pPr marL="266700" lv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pt-BR" dirty="0"/>
              <a:t>Deverá ser evitado acúmulo de pessoas nesse espaço, e consequentemente, conversas paralelas excessivas e brincadeiras desnecessárias, principalmente quando estiver acontecendo alguma reunião ou caso tenha algum clientes ou terceiros aguardando para ser atendido.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488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 descr="Uma imagem contendo mesa&#10;&#10;Descrição gerada automaticamente">
            <a:extLst>
              <a:ext uri="{FF2B5EF4-FFF2-40B4-BE49-F238E27FC236}">
                <a16:creationId xmlns:a16="http://schemas.microsoft.com/office/drawing/2014/main" id="{3B110A32-85AF-454B-90A1-B4BBD046BD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62" b="21235"/>
          <a:stretch/>
        </p:blipFill>
        <p:spPr>
          <a:xfrm>
            <a:off x="6083786" y="-168316"/>
            <a:ext cx="6261330" cy="3932313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6" name="Espaço Reservado para Conteúdo 5" descr="Uma imagem contendo desenho&#10;&#10;Descrição gerada automaticamente">
            <a:extLst>
              <a:ext uri="{FF2B5EF4-FFF2-40B4-BE49-F238E27FC236}">
                <a16:creationId xmlns:a16="http://schemas.microsoft.com/office/drawing/2014/main" id="{EE227A60-964B-4E4B-8125-767AE6E6BC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6" r="-1" b="11208"/>
          <a:stretch/>
        </p:blipFill>
        <p:spPr>
          <a:xfrm>
            <a:off x="6089904" y="2487166"/>
            <a:ext cx="6263640" cy="4215384"/>
          </a:xfrm>
          <a:prstGeom prst="rect">
            <a:avLst/>
          </a:prstGeom>
          <a:effectLst>
            <a:softEdge rad="5334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2901FED-4FC9-4ED5-8123-C98BCD1616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1BBB0F95-CBCE-4C92-BFED-5535D7950863}"/>
              </a:ext>
            </a:extLst>
          </p:cNvPr>
          <p:cNvSpPr/>
          <p:nvPr/>
        </p:nvSpPr>
        <p:spPr>
          <a:xfrm>
            <a:off x="0" y="107348"/>
            <a:ext cx="6261329" cy="55092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000" kern="0" spc="-300" noProof="0" dirty="0">
                <a:solidFill>
                  <a:srgbClr val="BB3D05"/>
                </a:solidFill>
              </a:rPr>
              <a:t>Outras Normas e</a:t>
            </a:r>
            <a:endParaRPr kumimoji="0" lang="pt-BR" sz="4000" b="0" i="0" u="none" strike="noStrike" kern="0" cap="none" spc="-300" normalizeH="0" baseline="0" noProof="0" dirty="0">
              <a:ln>
                <a:noFill/>
              </a:ln>
              <a:solidFill>
                <a:srgbClr val="BB3D05"/>
              </a:solidFill>
              <a:effectLst/>
              <a:uLnTx/>
              <a:uFillTx/>
            </a:endParaRPr>
          </a:p>
        </p:txBody>
      </p:sp>
      <p:sp>
        <p:nvSpPr>
          <p:cNvPr id="10" name="Título 4">
            <a:extLst>
              <a:ext uri="{FF2B5EF4-FFF2-40B4-BE49-F238E27FC236}">
                <a16:creationId xmlns:a16="http://schemas.microsoft.com/office/drawing/2014/main" id="{D303CA3B-C646-4F4A-A7E7-8BF709A49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764" y="422477"/>
            <a:ext cx="3604258" cy="694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fontAlgn="auto">
              <a:lnSpc>
                <a:spcPct val="114000"/>
              </a:lnSpc>
              <a:spcAft>
                <a:spcPts val="0"/>
              </a:spcAft>
              <a:buClrTx/>
              <a:buSzTx/>
              <a:tabLst/>
              <a:defRPr/>
            </a:pPr>
            <a:r>
              <a:rPr lang="en-US" b="1" spc="-300" noProof="0" dirty="0">
                <a:solidFill>
                  <a:srgbClr val="BB3D05"/>
                </a:solidFill>
                <a:latin typeface="+mn-lt"/>
              </a:rPr>
              <a:t>PROCEDIMENTOS</a:t>
            </a:r>
            <a:endParaRPr kumimoji="0" lang="en-US" b="1" i="0" u="none" strike="noStrike" cap="none" spc="-300" normalizeH="0" baseline="0" noProof="0" dirty="0">
              <a:ln>
                <a:noFill/>
              </a:ln>
              <a:solidFill>
                <a:srgbClr val="BB3D05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Subtítulo 5">
            <a:extLst>
              <a:ext uri="{FF2B5EF4-FFF2-40B4-BE49-F238E27FC236}">
                <a16:creationId xmlns:a16="http://schemas.microsoft.com/office/drawing/2014/main" id="{45303FAE-9B55-4329-81DF-04F7BF82F3CA}"/>
              </a:ext>
            </a:extLst>
          </p:cNvPr>
          <p:cNvSpPr txBox="1">
            <a:spLocks/>
          </p:cNvSpPr>
          <p:nvPr/>
        </p:nvSpPr>
        <p:spPr bwMode="auto">
          <a:xfrm>
            <a:off x="-8428" y="3201351"/>
            <a:ext cx="6414868" cy="1696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rtlCol="0" anchor="ctr">
            <a:sp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1850" b="1" dirty="0">
                <a:latin typeface="+mn-lt"/>
              </a:rPr>
              <a:t>Equipamentos de Trabalho e Tecnologia</a:t>
            </a:r>
          </a:p>
          <a:p>
            <a:pPr marL="266700" indent="0" algn="just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1850" dirty="0">
                <a:latin typeface="+mn-lt"/>
              </a:rPr>
              <a:t>É de responsabilidade de cada colaborador o uso adequado de todos os bens ativos do </a:t>
            </a:r>
            <a:r>
              <a:rPr lang="pt-BR" sz="1850" b="1" dirty="0">
                <a:latin typeface="+mn-lt"/>
              </a:rPr>
              <a:t>GRUPO SENA</a:t>
            </a:r>
            <a:r>
              <a:rPr lang="pt-BR" sz="1850" dirty="0">
                <a:latin typeface="+mn-lt"/>
              </a:rPr>
              <a:t>, assim como o bom senso de utilizá-los somente para fins profissionais ao trabalho que foi designado a desempenhar.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716E865-32EC-416F-A582-8A3AC28E6766}"/>
              </a:ext>
            </a:extLst>
          </p:cNvPr>
          <p:cNvSpPr txBox="1"/>
          <p:nvPr/>
        </p:nvSpPr>
        <p:spPr>
          <a:xfrm>
            <a:off x="10416" y="5053096"/>
            <a:ext cx="6835270" cy="169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sz="1850" i="1" dirty="0"/>
              <a:t>É </a:t>
            </a:r>
            <a:r>
              <a:rPr lang="pt-BR" sz="1850" b="1" i="1" u="sng" dirty="0"/>
              <a:t>expressamente proibido </a:t>
            </a:r>
            <a:r>
              <a:rPr lang="pt-BR" sz="1850" i="1" dirty="0"/>
              <a:t>o uso dos computadores e da rede para acessar sites de relacionamentos ou outros para fins particulares, assim como receber ou transmitir materiais inapropriados, não condizentes com o trabalho, fato que será passível de advertência ou outras medidas ao infrator.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C8E296-9D60-4BE4-B4DA-B3705DD00401}"/>
              </a:ext>
            </a:extLst>
          </p:cNvPr>
          <p:cNvSpPr txBox="1"/>
          <p:nvPr/>
        </p:nvSpPr>
        <p:spPr>
          <a:xfrm>
            <a:off x="-8428" y="1241449"/>
            <a:ext cx="6414868" cy="2021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lvl="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1850" b="1" dirty="0"/>
              <a:t>Telefonia</a:t>
            </a:r>
          </a:p>
          <a:p>
            <a:pPr marL="266700" lvl="0" indent="0" algn="just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1850" dirty="0"/>
              <a:t>O uso dos telefones do </a:t>
            </a:r>
            <a:r>
              <a:rPr lang="en-US" sz="1850" b="1" dirty="0"/>
              <a:t>GRUPO SENA </a:t>
            </a:r>
            <a:r>
              <a:rPr lang="en-US" sz="1850" dirty="0"/>
              <a:t>é </a:t>
            </a:r>
            <a:r>
              <a:rPr lang="en-US" sz="1850" b="1" dirty="0"/>
              <a:t>estritamente comercial</a:t>
            </a:r>
            <a:r>
              <a:rPr lang="en-US" sz="1850" dirty="0"/>
              <a:t>, considerando que os ramais deverão ser prontamente atendidos, sejam ligações internas ou externas, a fim de manter a qualidade e agilidade no atendimento sempre.</a:t>
            </a:r>
          </a:p>
        </p:txBody>
      </p:sp>
    </p:spTree>
    <p:extLst>
      <p:ext uri="{BB962C8B-B14F-4D97-AF65-F5344CB8AC3E}">
        <p14:creationId xmlns:p14="http://schemas.microsoft.com/office/powerpoint/2010/main" val="1338850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9" grpId="0"/>
      <p:bldP spid="2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6EFFF4A2-EB01-4738-9824-8D9A72A5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agem 28" descr="Uma imagem contendo desenho&#10;&#10;Descrição gerada automaticamente">
            <a:extLst>
              <a:ext uri="{FF2B5EF4-FFF2-40B4-BE49-F238E27FC236}">
                <a16:creationId xmlns:a16="http://schemas.microsoft.com/office/drawing/2014/main" id="{906513BF-6D5B-465B-B0F8-3CD121225EE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9" r="22060" b="2"/>
          <a:stretch/>
        </p:blipFill>
        <p:spPr>
          <a:xfrm>
            <a:off x="1568049" y="148788"/>
            <a:ext cx="2513129" cy="2559853"/>
          </a:xfrm>
          <a:prstGeom prst="rect">
            <a:avLst/>
          </a:prstGeom>
        </p:spPr>
      </p:pic>
      <p:pic>
        <p:nvPicPr>
          <p:cNvPr id="24" name="Espaço Reservado para Conteúdo 23" descr="Uma imagem contendo pessoa, segurando, frente, olhando&#10;&#10;Descrição gerada automaticamente">
            <a:extLst>
              <a:ext uri="{FF2B5EF4-FFF2-40B4-BE49-F238E27FC236}">
                <a16:creationId xmlns:a16="http://schemas.microsoft.com/office/drawing/2014/main" id="{10709202-BBAA-4509-B50B-FB7166CD66C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8" r="25009" b="-1"/>
          <a:stretch/>
        </p:blipFill>
        <p:spPr>
          <a:xfrm>
            <a:off x="5251741" y="148788"/>
            <a:ext cx="2513083" cy="2559853"/>
          </a:xfrm>
          <a:prstGeom prst="rect">
            <a:avLst/>
          </a:prstGeom>
        </p:spPr>
      </p:pic>
      <p:pic>
        <p:nvPicPr>
          <p:cNvPr id="27" name="Espaço Reservado para Conteúdo 26" descr="Desenho de personagem de desenho animado&#10;&#10;Descrição gerada automaticamente">
            <a:extLst>
              <a:ext uri="{FF2B5EF4-FFF2-40B4-BE49-F238E27FC236}">
                <a16:creationId xmlns:a16="http://schemas.microsoft.com/office/drawing/2014/main" id="{5C475B11-8145-42A2-9665-B793716DEAB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9" r="18047" b="-1"/>
          <a:stretch/>
        </p:blipFill>
        <p:spPr>
          <a:xfrm>
            <a:off x="8913572" y="154690"/>
            <a:ext cx="2507284" cy="2553951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D4469D90-62FA-49B2-981E-5305361D5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2474" y="4592474"/>
            <a:ext cx="1128382" cy="847206"/>
            <a:chOff x="8183879" y="1000124"/>
            <a:chExt cx="1562267" cy="1172973"/>
          </a:xfrm>
        </p:grpSpPr>
        <p:sp>
          <p:nvSpPr>
            <p:cNvPr id="50" name="Freeform 5">
              <a:extLst>
                <a:ext uri="{FF2B5EF4-FFF2-40B4-BE49-F238E27FC236}">
                  <a16:creationId xmlns:a16="http://schemas.microsoft.com/office/drawing/2014/main" id="{281E6897-9689-4C48-ADC3-9F41AAE3A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404E145C-C4EA-4DED-B029-22B811FC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3" name="Título 10">
            <a:extLst>
              <a:ext uri="{FF2B5EF4-FFF2-40B4-BE49-F238E27FC236}">
                <a16:creationId xmlns:a16="http://schemas.microsoft.com/office/drawing/2014/main" id="{5E27EC20-C1F5-4209-ABCE-8476E1B05ACA}"/>
              </a:ext>
            </a:extLst>
          </p:cNvPr>
          <p:cNvSpPr txBox="1">
            <a:spLocks/>
          </p:cNvSpPr>
          <p:nvPr/>
        </p:nvSpPr>
        <p:spPr>
          <a:xfrm>
            <a:off x="-57693" y="2702229"/>
            <a:ext cx="2102736" cy="63094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pt-BR" sz="3500" kern="0" spc="-300" dirty="0">
                <a:solidFill>
                  <a:srgbClr val="BB3D05"/>
                </a:solidFill>
                <a:latin typeface="+mn-lt"/>
              </a:rPr>
              <a:t>Filosofia de</a:t>
            </a:r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3363A786-EB6D-4807-A24F-E7532511BD0A}"/>
              </a:ext>
            </a:extLst>
          </p:cNvPr>
          <p:cNvSpPr/>
          <p:nvPr/>
        </p:nvSpPr>
        <p:spPr>
          <a:xfrm>
            <a:off x="177727" y="3333171"/>
            <a:ext cx="3850745" cy="527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4000" b="1" kern="0" spc="-300" dirty="0">
                <a:solidFill>
                  <a:srgbClr val="BB3D05"/>
                </a:solidFill>
                <a:latin typeface="Century Gothic" panose="020B0502020202020204" pitchFamily="34" charset="0"/>
              </a:rPr>
              <a:t>ATENDIMENTO</a:t>
            </a:r>
            <a:endParaRPr kumimoji="0" lang="pt-BR" sz="4000" b="1" i="0" u="none" strike="noStrike" kern="0" cap="none" spc="-300" normalizeH="0" baseline="0" noProof="0" dirty="0">
              <a:ln>
                <a:noFill/>
              </a:ln>
              <a:solidFill>
                <a:srgbClr val="BB3D05"/>
              </a:solidFill>
              <a:effectLst/>
              <a:uLnTx/>
              <a:uFillTx/>
              <a:latin typeface="Century Gothic" panose="020B0502020202020204" pitchFamily="34" charset="0"/>
            </a:endParaRPr>
          </a:p>
        </p:txBody>
      </p:sp>
      <p:sp>
        <p:nvSpPr>
          <p:cNvPr id="45" name="Retângulo 44">
            <a:extLst>
              <a:ext uri="{FF2B5EF4-FFF2-40B4-BE49-F238E27FC236}">
                <a16:creationId xmlns:a16="http://schemas.microsoft.com/office/drawing/2014/main" id="{B12C7F25-3977-4D16-A7E0-0DEBCB30135F}"/>
              </a:ext>
            </a:extLst>
          </p:cNvPr>
          <p:cNvSpPr/>
          <p:nvPr/>
        </p:nvSpPr>
        <p:spPr>
          <a:xfrm>
            <a:off x="-19717" y="3788229"/>
            <a:ext cx="3677318" cy="103327"/>
          </a:xfrm>
          <a:prstGeom prst="rect">
            <a:avLst/>
          </a:prstGeom>
          <a:solidFill>
            <a:srgbClr val="661302"/>
          </a:solidFill>
          <a:ln w="10477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 dirty="0">
              <a:ln>
                <a:noFill/>
              </a:ln>
              <a:solidFill>
                <a:srgbClr val="BB3D05"/>
              </a:solidFill>
              <a:effectLst/>
              <a:uLnTx/>
              <a:uFillTx/>
            </a:endParaRPr>
          </a:p>
        </p:txBody>
      </p:sp>
      <p:sp>
        <p:nvSpPr>
          <p:cNvPr id="46" name="Subtítulo 5">
            <a:extLst>
              <a:ext uri="{FF2B5EF4-FFF2-40B4-BE49-F238E27FC236}">
                <a16:creationId xmlns:a16="http://schemas.microsoft.com/office/drawing/2014/main" id="{07D4371F-9597-4E35-ADDC-793F8BE59271}"/>
              </a:ext>
            </a:extLst>
          </p:cNvPr>
          <p:cNvSpPr txBox="1">
            <a:spLocks noGrp="1"/>
          </p:cNvSpPr>
          <p:nvPr>
            <p:ph sz="half" idx="2"/>
          </p:nvPr>
        </p:nvSpPr>
        <p:spPr bwMode="auto">
          <a:xfrm>
            <a:off x="3715294" y="3277020"/>
            <a:ext cx="8418286" cy="358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61938" indent="-261938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Formalidade;</a:t>
            </a:r>
          </a:p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Profissionalismo;</a:t>
            </a:r>
          </a:p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Discrição;</a:t>
            </a:r>
          </a:p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Cordialidade;</a:t>
            </a:r>
          </a:p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Atenção;</a:t>
            </a:r>
          </a:p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Ética;</a:t>
            </a:r>
          </a:p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Ser gentil e prestativo com todos, seja cliente interno ou externo, buscando sempre atender a todos de forma cortês, objetiva e educada.</a:t>
            </a:r>
          </a:p>
          <a:p>
            <a:pPr marL="266700" indent="-266700" algn="just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pt-BR" sz="2000" dirty="0">
                <a:latin typeface="+mn-lt"/>
              </a:rPr>
              <a:t>Todos os clientes devem ser tratados igualmente, sem preferências pessoais, visto que na somatória, todos têm a mesma importância.</a:t>
            </a:r>
          </a:p>
        </p:txBody>
      </p:sp>
    </p:spTree>
    <p:extLst>
      <p:ext uri="{BB962C8B-B14F-4D97-AF65-F5344CB8AC3E}">
        <p14:creationId xmlns:p14="http://schemas.microsoft.com/office/powerpoint/2010/main" val="32558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EFFF4A2-EB01-4738-9824-8D9A72A5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 descr="Uma imagem contendo pessoa, homem, mesa, atletismo&#10;&#10;Descrição gerada automaticamente">
            <a:extLst>
              <a:ext uri="{FF2B5EF4-FFF2-40B4-BE49-F238E27FC236}">
                <a16:creationId xmlns:a16="http://schemas.microsoft.com/office/drawing/2014/main" id="{B740FDBC-F42B-4526-8311-E6DE8AFCFC7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29" r="12747" b="1"/>
          <a:stretch/>
        </p:blipFill>
        <p:spPr>
          <a:xfrm>
            <a:off x="4094480" y="1"/>
            <a:ext cx="4003040" cy="3798306"/>
          </a:xfrm>
          <a:prstGeom prst="rect">
            <a:avLst/>
          </a:prstGeom>
        </p:spPr>
      </p:pic>
      <p:pic>
        <p:nvPicPr>
          <p:cNvPr id="6" name="Espaço Reservado para Conteúdo 5" descr="Uma imagem contendo pessoa, criança, comida, pequeno&#10;&#10;Descrição gerada automaticamente">
            <a:extLst>
              <a:ext uri="{FF2B5EF4-FFF2-40B4-BE49-F238E27FC236}">
                <a16:creationId xmlns:a16="http://schemas.microsoft.com/office/drawing/2014/main" id="{96314BEE-77BB-4845-B17D-B76D91B0E1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33" r="27815" b="-1"/>
          <a:stretch/>
        </p:blipFill>
        <p:spPr>
          <a:xfrm>
            <a:off x="2033" y="0"/>
            <a:ext cx="4003040" cy="3771434"/>
          </a:xfrm>
          <a:prstGeom prst="rect">
            <a:avLst/>
          </a:prstGeom>
        </p:spPr>
      </p:pic>
      <p:pic>
        <p:nvPicPr>
          <p:cNvPr id="9" name="Espaço Reservado para Conteúdo 8" descr="Uma imagem contendo grama, pedaço, marrom, árvore&#10;&#10;Descrição gerada automaticamente">
            <a:extLst>
              <a:ext uri="{FF2B5EF4-FFF2-40B4-BE49-F238E27FC236}">
                <a16:creationId xmlns:a16="http://schemas.microsoft.com/office/drawing/2014/main" id="{39D46010-92C0-45C1-8255-613638F7B4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7" r="13772" b="-2"/>
          <a:stretch/>
        </p:blipFill>
        <p:spPr>
          <a:xfrm>
            <a:off x="8186928" y="10"/>
            <a:ext cx="4005072" cy="3798296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D4469D90-62FA-49B2-981E-5305361D5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2370" y="4592474"/>
            <a:ext cx="1128382" cy="847206"/>
            <a:chOff x="8183879" y="1000124"/>
            <a:chExt cx="1562267" cy="1172973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281E6897-9689-4C48-ADC3-9F41AAE3A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404E145C-C4EA-4DED-B029-22B811FC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Content Placeholder 17">
            <a:extLst>
              <a:ext uri="{FF2B5EF4-FFF2-40B4-BE49-F238E27FC236}">
                <a16:creationId xmlns:a16="http://schemas.microsoft.com/office/drawing/2014/main" id="{E58A9C41-FCDA-46EA-A92C-9B729A85AAD3}"/>
              </a:ext>
            </a:extLst>
          </p:cNvPr>
          <p:cNvSpPr txBox="1">
            <a:spLocks/>
          </p:cNvSpPr>
          <p:nvPr/>
        </p:nvSpPr>
        <p:spPr>
          <a:xfrm>
            <a:off x="212502" y="4491095"/>
            <a:ext cx="10367470" cy="2233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dirty="0"/>
              <a:t>E por isso… o que esperamos de cada um é dedicação, lealdade, compromentimento e acima de tudo, um espírito de equipe e de </a:t>
            </a:r>
            <a:r>
              <a:rPr lang="en-US" sz="2200" dirty="0" err="1"/>
              <a:t>vencedor</a:t>
            </a:r>
            <a:r>
              <a:rPr lang="en-US" sz="2200" dirty="0"/>
              <a:t>… pois </a:t>
            </a:r>
            <a:r>
              <a:rPr lang="en-US" sz="2200" dirty="0" err="1"/>
              <a:t>somos</a:t>
            </a:r>
            <a:r>
              <a:rPr lang="en-US" sz="2200" dirty="0"/>
              <a:t> um time mais que </a:t>
            </a:r>
            <a:r>
              <a:rPr lang="en-US" sz="2200" dirty="0" err="1"/>
              <a:t>capacitado</a:t>
            </a:r>
            <a:r>
              <a:rPr lang="en-US" sz="2200" dirty="0"/>
              <a:t> para </a:t>
            </a:r>
            <a:r>
              <a:rPr lang="en-US" sz="2200" dirty="0" err="1"/>
              <a:t>alcançarmos</a:t>
            </a:r>
            <a:r>
              <a:rPr lang="en-US" sz="2200" dirty="0"/>
              <a:t> novos </a:t>
            </a:r>
            <a:r>
              <a:rPr lang="en-US" sz="2200" dirty="0" err="1"/>
              <a:t>horizontes</a:t>
            </a:r>
            <a:r>
              <a:rPr lang="en-US" sz="2200" dirty="0"/>
              <a:t> e todos juntos, </a:t>
            </a:r>
            <a:r>
              <a:rPr lang="en-US" sz="2200" dirty="0" err="1"/>
              <a:t>vivermos</a:t>
            </a:r>
            <a:r>
              <a:rPr lang="en-US" sz="2200" dirty="0"/>
              <a:t> uma vida no topo.</a:t>
            </a:r>
          </a:p>
          <a:p>
            <a: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200" dirty="0"/>
              <a:t>O </a:t>
            </a:r>
            <a:r>
              <a:rPr lang="en-US" sz="2200" b="1" dirty="0">
                <a:solidFill>
                  <a:srgbClr val="BB3D05"/>
                </a:solidFill>
              </a:rPr>
              <a:t>GRUPO SENA </a:t>
            </a:r>
            <a:r>
              <a:rPr lang="en-US" sz="2200" dirty="0" err="1"/>
              <a:t>confia</a:t>
            </a:r>
            <a:r>
              <a:rPr lang="en-US" sz="2200" dirty="0"/>
              <a:t> em cada um, assim como </a:t>
            </a:r>
            <a:r>
              <a:rPr lang="en-US" sz="2200" dirty="0" err="1"/>
              <a:t>está</a:t>
            </a:r>
            <a:r>
              <a:rPr lang="en-US" sz="2200" dirty="0"/>
              <a:t> ao </a:t>
            </a:r>
            <a:r>
              <a:rPr lang="en-US" sz="2200" dirty="0" err="1"/>
              <a:t>lado</a:t>
            </a:r>
            <a:r>
              <a:rPr lang="en-US" sz="2200" dirty="0"/>
              <a:t> de todos para </a:t>
            </a:r>
            <a:r>
              <a:rPr lang="en-US" sz="2200" dirty="0" err="1"/>
              <a:t>caminharmos</a:t>
            </a:r>
            <a:r>
              <a:rPr lang="en-US" sz="2200" dirty="0"/>
              <a:t> juntos o </a:t>
            </a:r>
            <a:r>
              <a:rPr lang="en-US" sz="2200" dirty="0" err="1"/>
              <a:t>caminho</a:t>
            </a:r>
            <a:r>
              <a:rPr lang="en-US" sz="2200" dirty="0"/>
              <a:t> do sucesso, </a:t>
            </a:r>
            <a:r>
              <a:rPr lang="en-US" sz="2200" dirty="0" err="1"/>
              <a:t>prosperidade</a:t>
            </a:r>
            <a:r>
              <a:rPr lang="en-US" sz="2200" dirty="0"/>
              <a:t> e </a:t>
            </a:r>
            <a:r>
              <a:rPr lang="en-US" sz="2200" dirty="0" err="1"/>
              <a:t>abundância</a:t>
            </a:r>
            <a:r>
              <a:rPr lang="en-US" sz="2200" dirty="0"/>
              <a:t>!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F8C416A-67C5-4CCA-91D2-96B1864B313B}"/>
              </a:ext>
            </a:extLst>
          </p:cNvPr>
          <p:cNvSpPr/>
          <p:nvPr/>
        </p:nvSpPr>
        <p:spPr>
          <a:xfrm>
            <a:off x="736942" y="3798306"/>
            <a:ext cx="9318589" cy="588623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000" b="1" i="1" u="none" strike="noStrike" kern="0" cap="none" spc="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</a:rPr>
              <a:t>CONFIAMOS</a:t>
            </a:r>
            <a:r>
              <a:rPr kumimoji="0" lang="pt-BR" sz="3000" b="1" i="1" u="none" strike="noStrike" kern="0" cap="none" spc="0" normalizeH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</a:rPr>
              <a:t> E C</a:t>
            </a:r>
            <a:r>
              <a:rPr kumimoji="0" lang="pt-BR" sz="3000" b="1" i="1" u="none" strike="noStrike" kern="0" cap="none" spc="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</a:rPr>
              <a:t>ONTAMOS COM CADA</a:t>
            </a:r>
            <a:r>
              <a:rPr kumimoji="0" lang="pt-BR" sz="3000" b="1" i="1" u="none" strike="noStrike" kern="0" cap="none" spc="0" normalizeH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</a:rPr>
              <a:t> UM DE V</a:t>
            </a:r>
            <a:r>
              <a:rPr kumimoji="0" lang="pt-BR" sz="3000" b="1" i="1" u="none" strike="noStrike" kern="0" cap="none" spc="0" normalizeH="0" baseline="0" noProof="0" dirty="0">
                <a:ln>
                  <a:noFill/>
                </a:ln>
                <a:solidFill>
                  <a:srgbClr val="BB3D05"/>
                </a:solidFill>
                <a:effectLst/>
                <a:uLnTx/>
                <a:uFillTx/>
              </a:rPr>
              <a:t>OCÊS!</a:t>
            </a:r>
          </a:p>
        </p:txBody>
      </p:sp>
    </p:spTree>
    <p:extLst>
      <p:ext uri="{BB962C8B-B14F-4D97-AF65-F5344CB8AC3E}">
        <p14:creationId xmlns:p14="http://schemas.microsoft.com/office/powerpoint/2010/main" val="2098714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EFFF4A2-EB01-4738-9824-8D9A72A51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Espaço Reservado para Conteúdo 5" descr="Uma imagem contendo comida&#10;&#10;Descrição gerada automaticamente">
            <a:extLst>
              <a:ext uri="{FF2B5EF4-FFF2-40B4-BE49-F238E27FC236}">
                <a16:creationId xmlns:a16="http://schemas.microsoft.com/office/drawing/2014/main" id="{76493B5A-149C-4619-B46D-5A1466F0D27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14" r="20611" b="2"/>
          <a:stretch/>
        </p:blipFill>
        <p:spPr>
          <a:xfrm>
            <a:off x="20" y="10"/>
            <a:ext cx="4571980" cy="4224518"/>
          </a:xfrm>
          <a:prstGeom prst="rect">
            <a:avLst/>
          </a:prstGeom>
        </p:spPr>
      </p:pic>
      <p:pic>
        <p:nvPicPr>
          <p:cNvPr id="8" name="Espaço Reservado para Conteúdo 7" descr="Tela de celular com texto preto sobre fundo branco&#10;&#10;Descrição gerada automaticamente">
            <a:extLst>
              <a:ext uri="{FF2B5EF4-FFF2-40B4-BE49-F238E27FC236}">
                <a16:creationId xmlns:a16="http://schemas.microsoft.com/office/drawing/2014/main" id="{1AFF7407-7678-40B9-B4AC-810325FC17E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44" r="2" b="19260"/>
          <a:stretch/>
        </p:blipFill>
        <p:spPr>
          <a:xfrm>
            <a:off x="4657344" y="10"/>
            <a:ext cx="7534656" cy="4226709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2276F2F-BD4C-47AF-B44A-C58C1E86F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2469" y="4560767"/>
            <a:ext cx="9490956" cy="195880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 algn="ctr">
              <a:lnSpc>
                <a:spcPct val="114000"/>
              </a:lnSpc>
              <a:spcBef>
                <a:spcPts val="0"/>
              </a:spcBef>
              <a:buNone/>
            </a:pPr>
            <a:r>
              <a:rPr lang="en-US" sz="3500" b="1" i="1" dirty="0">
                <a:solidFill>
                  <a:srgbClr val="BB3D05"/>
                </a:solidFill>
              </a:rPr>
              <a:t>“Ao dividirmos o trabalho, multiplicamos as possibilidades de triunfo… e por isso, todo sucesso é fruto de um grande trabalho em equipe!”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469D90-62FA-49B2-981E-5305361D5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2370" y="4592474"/>
            <a:ext cx="1128382" cy="847206"/>
            <a:chOff x="8183879" y="1000124"/>
            <a:chExt cx="1562267" cy="1172973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281E6897-9689-4C48-ADC3-9F41AAE3A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404E145C-C4EA-4DED-B029-22B811FCEB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04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1909</Words>
  <Application>Microsoft Office PowerPoint</Application>
  <PresentationFormat>Widescreen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Century Gothic</vt:lpstr>
      <vt:lpstr>Wingdings</vt:lpstr>
      <vt:lpstr>Tema do Office</vt:lpstr>
      <vt:lpstr>“MANUAL DE INTEGRAÇÃO GERAL DE NORMAS E PROCEDIMENTOS INTERNOS”</vt:lpstr>
      <vt:lpstr>GRUPO</vt:lpstr>
      <vt:lpstr>Apresentação do PowerPoint</vt:lpstr>
      <vt:lpstr>HORÁRIO DE EXPEDIENTE e</vt:lpstr>
      <vt:lpstr>ATRASOS e </vt:lpstr>
      <vt:lpstr>REGISTRO DE PONTO e</vt:lpstr>
      <vt:lpstr>FALTAS </vt:lpstr>
      <vt:lpstr>Colaborador, entenda que a sua presença é fundamental para o andamento e manutenção das atividades da nossa organização diariamente, e por isso, se precisar se ausentar do trabalho, avise com antecedência, ou, se não for possível, comunique-se tão logo tenha condições. O bom desempenho de todas as tarefas depende de todos os envolvidos no trabalho... lembre-se sempre disso!</vt:lpstr>
      <vt:lpstr>FERIADOS  e</vt:lpstr>
      <vt:lpstr>REMUNERAÇÃO</vt:lpstr>
      <vt:lpstr>BENEFÍCIOS</vt:lpstr>
      <vt:lpstr>CASUAL DAY</vt:lpstr>
      <vt:lpstr>Apresentação do PowerPoint</vt:lpstr>
      <vt:lpstr>ORGANIZAÇÃO</vt:lpstr>
      <vt:lpstr>Apresentação do PowerPoint</vt:lpstr>
      <vt:lpstr>PROCEDIMENTOS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“MANUAL DE INTEGRAÇÃO GERAL DE NORMAS E PROCEDIMENTOS INTERNOS”</dc:title>
  <dc:creator>Kely Fernandes</dc:creator>
  <cp:lastModifiedBy>Kely Fernandes</cp:lastModifiedBy>
  <cp:revision>8</cp:revision>
  <dcterms:created xsi:type="dcterms:W3CDTF">2020-01-07T17:28:29Z</dcterms:created>
  <dcterms:modified xsi:type="dcterms:W3CDTF">2020-01-07T19:48:32Z</dcterms:modified>
</cp:coreProperties>
</file>