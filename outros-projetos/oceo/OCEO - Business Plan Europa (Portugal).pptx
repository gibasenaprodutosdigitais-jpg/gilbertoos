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(€)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7353.02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(€)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2338.88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(€)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2676.71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(€)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5544.0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(€)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2041.46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(€)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DD9A34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interna (5 pilares)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19954.07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Faixa média €/mês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8A92A6"/>
              </a:solidFill>
            </c:spPr>
          </c:dPt>
          <c:dPt>
            <c:idx val="1"/>
            <c:spPr>
              <a:solidFill>
                <a:srgbClr val="DD9A34"/>
              </a:solidFill>
            </c:spPr>
          </c:dPt>
          <c:cat>
            <c:strRef>
              <c:f>Sheet1!$A$2:$A$3</c:f>
              <c:strCache>
                <c:ptCount val="2"/>
                <c:pt idx="0">
                  <c:v>Moloni</c:v>
                </c:pt>
                <c:pt idx="1">
                  <c:v>OCEO (ref.)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A8F0"/>
                </a:solidFill>
                <a:latin typeface="Arial"/>
              </a:rPr>
              <a:t>BUSINESS PLAN · MERCADO EUROPEU (PORTUGAL)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22860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Arial"/>
              </a:rPr>
              <a:t>OCEO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DD9A34"/>
                </a:solidFill>
                <a:latin typeface="Arial"/>
              </a:rPr>
              <a:t>Sistema de Gestão Empresarial — Europa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4DC"/>
                </a:solidFill>
                <a:latin typeface="Arial"/>
              </a:rPr>
              <a:t>Contabilidade, financeiro, jurídico, marketing e educação de investimento —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4DC"/>
                </a:solidFill>
                <a:latin typeface="Arial"/>
              </a:rPr>
              <a:t>um único painel, adaptado ao mercado português e à moeda EUR.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5074920"/>
            <a:ext cx="64008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2578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Grupo Sena — Soluções Empresariais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Gilberto Sena — CEO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Documento de trabalho · Agosto de 2026 · Cópia PT/EUR do business plan original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NOTA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Como ler este documento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Separar fato de premissa, sempre — mesma disciplina do business plan original, adaptada ao mercado português.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A78D6"/>
                </a:solidFill>
                <a:latin typeface="Arial"/>
              </a:rPr>
              <a:t>FONTE EXTERNA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Salários vêm de Indeed.pt, Jobted.pt e Talent.com Portugal (2026), com fonte citada em cada pilar. Portugal não tem uma base pública única como o CAGED brasileiro.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C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B6834"/>
                </a:solidFill>
                <a:latin typeface="Arial"/>
              </a:rPr>
              <a:t>PREÇO DEFINIDO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O preço do OCEO em EUR foi decidido pelo Gilberto: setup 2.950 € + mensalidade 850 €/mês. Este documento mantém o custo real de profissional em Portugal como base que sustentou a decisão.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A34A"/>
                </a:solidFill>
                <a:latin typeface="Arial"/>
              </a:rPr>
              <a:t>PREMISSA / A 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Perfis sem cargo exato em Portugal (ex.: SDR, Analista de Investimentos) usam profissão próxima como estimativa — marcado em cada caso.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5C"/>
                </a:solidFill>
                <a:latin typeface="Arial"/>
              </a:rPr>
              <a:t>Câmbio de referência — 1 EUR = 5,89 BRL (agosto/2026)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B6579"/>
                </a:solidFill>
                <a:latin typeface="Arial"/>
              </a:rPr>
              <a:t>O custo de mão de obra portuguesa é mais alto que o brasileiro em termos absolutos (ver Pilares GC–GI). O preço decidido pelo Gilberto para Portugal — setup 2.950 € + mensalidade 850 €/mês — reflete essa diferença de custo de vida e mercado.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01 ·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PMEs portuguesas gerem no escuro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579"/>
                </a:solidFill>
                <a:latin typeface="Arial"/>
              </a:rPr>
              <a:t>O pequeno e médio empresário fatura, mas frequentemente não sabe se está lucrando de verdade — porque a gestão da empresa mora em planilhas soltas, grupos de WhatsApp e na memória do dono.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257800" cy="3383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335C"/>
                </a:solidFill>
                <a:latin typeface="Arial"/>
              </a:rPr>
              <a:t>Sintomas recorrentes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Mistura entre finanças pessoais (PF) e da empresa (PJ)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Ausência de ponto de equilíbrio calculado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Decisão comercial sem dado de margem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Contrato assinado sem revisão jurídica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RH sem processo de contratação estruturado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Nenhum painel único que junte tudo isso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394960" cy="338328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D9A34"/>
                </a:solidFill>
                <a:latin typeface="Arial"/>
              </a:rPr>
              <a:t>A causa raiz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>Contratar uma estrutura completa — contador, financeiro, jurídico, marketing, RH — custa caro demais pra maioria das PMEs. Então a gestão vira improviso.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>Sistemas genéricos de mercado cobrem só um pedaço do problema (financeiro OU vendas), forçando o empresário a integrar vários sistemas por conta própria.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02 · 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Cinco pilares. Uma mensalidade.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7160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3619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PME não contrata diretoria completa. O OCEO junta as cinco funções num painel só — nenhum pilar é vendido avulso.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Contabilidade &amp; RH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Contábil, Fiscal, DP, RH e Legalização internos.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91,9%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59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44951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1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1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Gestão Financeira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1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DRE, caixa, EBITDA, ROI e fundo de reserva.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44951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4951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74,6%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1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38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85230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0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0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Jurídico Consultivo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0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Contratos, análise de risco, oportunidade legal.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85230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85230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77,8%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0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17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25509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09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09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Marketing &amp; Vendas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09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Agência e comercial rodando todo dia.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25509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25509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89,3%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09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196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65788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88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88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Educação Pré-Investimento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88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Prepara o empresário, não recomenda produto.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65788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65788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70,9%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88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1 · CONTABILIDADE /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Contabilidade &amp; RH internos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Escritório de contabilidade interno para gestão — Contábil, Fiscal, DP, RH e Legalização por dentro de casa. O contabilista certificado (OCC) externo continua existindo, para a obrigação legal assinada — o dado interno vira poder de negociar com 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Contábil — apuração, conciliação, balancete, DRE, custos/despesas/entradas/retiradas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Fiscal — impostos, declarações, linkado à Autoridade Tributária e Aduaneira (AT)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DP — processamento salarial, admissão/demissão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RH — atração, seleção, entrevista virtual por IA, análise comportamental, apoio em negociação salarial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Legalização — registos e certidões municipal, distrital e nacional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Ponto de atenção: em Portugal, contas organizadas e declarações fiscais exigem Contabilista Certificado inscrito na OCC — o gabinete externo do cliente não é substituído.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Equipe interna equivalente (4 perfis, Portugal)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6.503,02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88,4%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01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 · GC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2 · ERP FINANCEIRO + BANCO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Gestão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Integra dado bancário (Open Banking/PSD2) ao que o Pilar GC já apurou. Traduz DRE, caixa livre, EBITDA, ROI e valuation em linguagem simples, com política de fundo de reserva automática.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Integração bancária — leitura de entradas e saídas em tempo real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DRE explicado: caixa livre, caixa circulante, margem de contribuição, EBITDA, ROI, valuation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Transparência PF x PJ — impacto real do gasto pessoal no caixa livre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Fundo de reserva automático: 3 meses de ponto de equilíbrio (padrão fixo)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Comparado a um Diretor Financeiro (2.689,71 €/mês em Portugal), a economia sobe para 68,4% — o pilar entrega leitura de nível diretoria.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Analista Financeiro (Portugal)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1.488,88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63,7%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02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 · GF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3 · ADVOGADO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Jurídico Consultivo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PME pequena/média não tem e não contrata advogado. O OCEO entra como advogado consultivo full-time, sem substituir advogado inscrito na Ordem dos Advogados para executar.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Contratos padrão/modelo — mesmo critério usado por IA jurídica de mercado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Análise de contrato: aponta incoerência e risco (compra, sociedade, venda)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Busca de oportunidade legal de redução de custo tributário/financeiro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Esclarecimento jurídico simples, disponível full-time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Advocacia é atividade privativa de advogado inscrito na Ordem dos Advogados — personalização fora do padrão é encaminhada ao advogado de confiança do cliente.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Advogado (Portugal)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1.826,71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68,2%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03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 · GJ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4 · AGÊNCIA + COMERCIAL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Marketing &amp; Vendas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Social media, tráfego pago e atendimento comercial via IA — como se a empresa tivesse uma agência completa por dentro, cobrindo o negócio e o próprio empresário.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Social media: copy, carrossel, imagem, publicação manual e programada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Tráfego pago junto às plataformas (verba de mídia é orçamento à parte do cliente)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Atendimento via agente de IA: funil até o fechamento, mesmo em operação física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Campanha específica → assessoria externa; dia a dia e lead orgânico → o pilar cobre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WhatsApp Business API cobra por conversa — tarifário europeu (EUR) ainda precisa ser confirmado com a Meta, não assumir o mesmo valor usado no Brasil.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Equipe interna equivalente (3 perfis, Portugal)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4.694,00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84,7%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04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 · GM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5 · MERCADO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Educação Pré-Investimento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Só entra em ação depois que o fundo de reserva do Pilar GF está completo. Rota educacional/genérica — não individualiza recomendação por NIF/NIPC, não vincula corretora como parceira.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Conteúdo educacional por categoria de perfil (conservador, moderado, arrojado)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Panorama de renda fixa/variável, obrigações e criptoativos — sem recomendação individualizada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Fibonacci e outras ferramentas técnicas, sobre dado de mercado público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Disclaimer em toda saída: conteúdo educacional, não recomendação de investimento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CMVM (o equivalente português à CVM) trata recomendação individualizada por sistema automatizado como consultoria de valores mobiliários regulada.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Analista de Investimentos (Portugal, estimativa)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1.191,46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58,4%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05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 · 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6FA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O PLACAR · SOMA DOS 5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O que a PME pagaria pra montar tudo isso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C"/>
                </a:solidFill>
                <a:latin typeface="Arial"/>
              </a:rPr>
              <a:t>Somando o custo de contratar cada função separadamente — leitura conservadora (Analista Financeiro no Pilar GF, não Diretor).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880360"/>
                <a:gridCol w="1920240"/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Pilar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Custo mensal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GC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Contabilidade/BI + RH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7.353,02 €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GF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Gestão Financeira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2.338,88 €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GJ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Jurídico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2.676,71 €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GM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Marketing e Vendas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5.544,00 €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GI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Educação Pré-Investimento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2.041,46 €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Total equipe interna equivalente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D9A34"/>
                </a:solidFill>
                <a:latin typeface="Arial"/>
              </a:rPr>
              <a:t>19.954,07 € / mês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1965960"/>
          <a:ext cx="502920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19.104,07 €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ECONOMIA /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95,7%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ECONOMIA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1744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≈ 5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PAYBACK SETUP*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6496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0504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229.249 €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EM 12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A93A8"/>
                </a:solidFill>
                <a:latin typeface="Arial"/>
              </a:rPr>
              <a:t>* Preço do OCEO em Portugal, decidido pelo Gilberto: 850 €/mês (mensalidade) + 2.950 € (setup, único). Ver próximo slide.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7C8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OCEO · Europa (Portugal)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03 · O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Elementos pra precificar em Portugal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6420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O preço final em Portugal foi decidido pelo Gilberto: setup 2.950 € (único) + mensalidade 850 €/mês. Este slide mostra o preço decidido frente ao custo de montar a equipe internamente.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A92A6"/>
                </a:solidFill>
                <a:latin typeface="Arial"/>
              </a:rPr>
              <a:t>SETUP (ÚNICO)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335C"/>
                </a:solidFill>
                <a:latin typeface="Arial"/>
              </a:rPr>
              <a:t>2.950 €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579"/>
                </a:solidFill>
                <a:latin typeface="Arial"/>
              </a:rPr>
              <a:t>pagamento único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Cobre onboarding, configuração inicial e integração dos 5 pilares — cobrado uma única vez na contratação, não recorrente.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2860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FA8F0"/>
                </a:solidFill>
                <a:latin typeface="Arial"/>
              </a:rPr>
              <a:t>TETO — CUSTO DE EQUIPE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DD9A34"/>
                </a:solidFill>
                <a:latin typeface="Arial"/>
              </a:rPr>
              <a:t>19.954 €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4DC"/>
                </a:solidFill>
                <a:latin typeface="Arial"/>
              </a:rPr>
              <a:t>por 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6118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FD8EC"/>
                </a:solidFill>
                <a:latin typeface="Arial"/>
              </a:rPr>
              <a:t>Custo de montar a equipe interna equivalente em Portugal (os 5 pilares somados). Qualquer preço abaixo disso já é economia real pro cliente.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2860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BF3E9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4871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A5A15"/>
                </a:solidFill>
                <a:latin typeface="Arial"/>
              </a:rPr>
              <a:t>MENSALIDADE OCEO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432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8A5A15"/>
                </a:solidFill>
                <a:latin typeface="Arial"/>
              </a:rPr>
              <a:t>850 €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5A15"/>
                </a:solidFill>
                <a:latin typeface="Arial"/>
              </a:rPr>
              <a:t>por 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61188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B4A1E"/>
                </a:solidFill>
                <a:latin typeface="Arial"/>
              </a:rPr>
              <a:t>95,7% de economia frente ao custo de montar a equipe internamente (card ao lado) — margem pra cobrir a diferença de custo de vida português sem perder competitividade.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1324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Perfil de cliente em Portugal: PME a partir de 35.000 €/mês de faturamento — faixa a validar com o mercado português (ver Mercado, próximo slide).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04 ·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Um mercado de 1,45 milhão de empresas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7335C"/>
                </a:solidFill>
                <a:latin typeface="Arial"/>
              </a:rPr>
              <a:t>1.452.225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PME ativas em Portugal (PORDATA/INE,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7335C"/>
                </a:solidFill>
                <a:latin typeface="Arial"/>
              </a:rPr>
              <a:t>99,9%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Das empresas não financeiras em Portugal são PME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7335C"/>
                </a:solidFill>
                <a:latin typeface="Arial"/>
              </a:rPr>
              <a:t>4,7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Pessoas empregadas por PME em Portugal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7335C"/>
                </a:solidFill>
                <a:latin typeface="Arial"/>
              </a:rPr>
              <a:t>550,3 bi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Volume de negócios das PME portuguesas (2023)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5C"/>
                </a:solidFill>
                <a:latin typeface="Arial"/>
              </a:rPr>
              <a:t>Preço de concorrentes PME em Portugal (mensal)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0080" y="3977639"/>
          <a:ext cx="53949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09360" y="3977639"/>
            <a:ext cx="5212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Moloni 5–40 € · InvoiceXpress a partir de 8 € · Primavera Jasmin ~15 € · PHC GO/Sage 20–40 € · Primavera Premium (com contabilidade) a partir de 150 €/mês — mas cobrem faturação/contabilidade isolada, não os 5 pilares completos do OCEO (jurídico, marketing, educação de investimento).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6FA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05 · META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Se o OCEO capturar 0,1% desse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45720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7830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D9A34"/>
                </a:solidFill>
                <a:latin typeface="Arial"/>
              </a:rPr>
              <a:t>1.452.225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FB6DD"/>
                </a:solidFill>
                <a:latin typeface="Arial"/>
              </a:rPr>
              <a:t>PME em Portugal (TAM, PORDATA/INE)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830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938528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D9A34"/>
                </a:solidFill>
                <a:latin typeface="Arial"/>
              </a:rPr>
              <a:t>× 0,1%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48716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FB6DD"/>
                </a:solidFill>
                <a:latin typeface="Arial"/>
              </a:rPr>
              <a:t>Meta de participação de mercado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7830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938528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D9A34"/>
                </a:solidFill>
                <a:latin typeface="Arial"/>
              </a:rPr>
              <a:t>= 1.452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48716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FB6DD"/>
                </a:solidFill>
                <a:latin typeface="Arial"/>
              </a:rPr>
              <a:t>Clientes-alvo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FD8EC"/>
                </a:solidFill>
                <a:latin typeface="Arial"/>
              </a:rPr>
              <a:t>1.452 clientes  ×  850 €/mês (preço decidido)  ×  12 meses de contrato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6400800" cy="1737360"/>
          </a:xfrm>
          <a:prstGeom prst="roundRect">
            <a:avLst>
              <a:gd name="adj" fmla="val 8000"/>
            </a:avLst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FB6DD"/>
                </a:solidFill>
                <a:latin typeface="Arial"/>
              </a:rPr>
              <a:t>RECEITA ANUAL PROJETADA (MENSALIDADE, PREÇO REF.)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DD9A34"/>
                </a:solidFill>
                <a:latin typeface="Arial"/>
              </a:rPr>
              <a:t>14.810.400 €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703320"/>
            <a:ext cx="4297680" cy="1737360"/>
          </a:xfrm>
          <a:prstGeom prst="roundRect">
            <a:avLst>
              <a:gd name="adj" fmla="val 8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88620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FB6DD"/>
                </a:solidFill>
                <a:latin typeface="Arial"/>
              </a:rPr>
              <a:t>SETUP, SE OS 1.452 FOSSEM NOVOS NO 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22452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4.283.400 €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82803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8A93A8"/>
                </a:solidFill>
                <a:latin typeface="Arial"/>
              </a:rPr>
              <a:t>1.452 × 2.950 € (preço de setup decidido — ilustra potencial, não uma premissa de ritmo de vendas)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79008"/>
            <a:ext cx="1033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E8C98A"/>
                </a:solidFill>
                <a:latin typeface="Arial"/>
              </a:rPr>
              <a:t>⚠  Uma premissa em aberto: 0,1% de participação NÃO é validado por funil comercial — o preço usado (850 €/mês) já é o preço final decidido pra Portugal.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7C8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OCEO · Europa (Portugal)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06 · GOVERNANÇA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O OCEO orienta, não decide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Em todos os pilares regulados, o sistema soma-se ao profissional certificado — nunca o substitui.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335C"/>
                </a:solidFill>
                <a:latin typeface="Arial"/>
              </a:rPr>
              <a:t>OCC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Contas organizadas e declarações fiscais exigem Contabilista Certificado inscrito na Ordem dos Contabilistas Certificados. O gabinete externo do cliente continua assinando.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335C"/>
                </a:solidFill>
                <a:latin typeface="Arial"/>
              </a:rPr>
              <a:t>Ordem Advogados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Advocacia é atividade privativa de advogado inscrito na Ordem dos Advogados. Personalização fora do padrão é encaminhada ao advogado do cliente.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335C"/>
                </a:solidFill>
                <a:latin typeface="Arial"/>
              </a:rPr>
              <a:t>CMVM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Recomendação individualizada por perfil é consultoria de valores mobiliários regulada pela CMVM. O pilar é educacional, não recomenda produto por NIF/NIPC.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07 ·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O que falta pra fechar cada pilar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74519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335C"/>
                </a:solidFill>
                <a:latin typeface="Arial"/>
              </a:rPr>
              <a:t>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Preço final em EUR decidido: setup 2.950 € + mensalidade 850 €/mês. Falta validar esse valor contra concorrência local e poder de compra português nos primeiros meses de venda.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87751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87751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87751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Confirmar se a mesma equipe cobre Fiscal separado do Contabilista — em Portugal a OCC tende a juntar as duas funções num só profissional.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00983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3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00983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Validar viabilidade e custo da integração Open Banking/PSD2 com bancos portugueses.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14215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14215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14215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Definir se há advogado parceiro fixo do OCEO em Portugal para personalização/execução.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27447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27447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Confirmar tarifário EUR do WhatsApp Business API — não assumir o valor usado no Brasil.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79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79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79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Validar com jurídico local se a rota educacional atende às regras da CMVM (podem diferir da CVM brasileira).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Europa (Portugal)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OCEO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4290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9A34"/>
                </a:solidFill>
                <a:latin typeface="Arial"/>
              </a:rPr>
              <a:t>O painel de comando que toda PME devia ter — agora em Portugal.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160520"/>
            <a:ext cx="54864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34340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Sistema de Gestão Empresarial — Grupo Sena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Gilberto Sena — CEO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Documento de trabalho · Agosto de 2026 · Cópia PT/EUR do business plan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