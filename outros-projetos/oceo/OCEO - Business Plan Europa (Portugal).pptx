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7353.02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2338.88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2676.71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5544.0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2041.46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DD9A34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interna (5 pilares)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19954.07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Faixa média €/mês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8A92A6"/>
              </a:solidFill>
            </c:spPr>
          </c:dPt>
          <c:dPt>
            <c:idx val="1"/>
            <c:spPr>
              <a:solidFill>
                <a:srgbClr val="DD9A34"/>
              </a:solidFill>
            </c:spPr>
          </c:dPt>
          <c:cat>
            <c:strRef>
              <c:f>Sheet1!$A$2:$A$3</c:f>
              <c:strCache>
                <c:ptCount val="2"/>
                <c:pt idx="0">
                  <c:v>Moloni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FA8F0"/>
                </a:solidFill>
                <a:latin typeface="Arial"/>
              </a:rPr>
              <a:t>BUSINESS PLAN · MERCADO EUROPEU (PORTUGAL)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228600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FFFFF"/>
                </a:solidFill>
                <a:latin typeface="Arial"/>
              </a:rPr>
              <a:t>OCEO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DD9A34"/>
                </a:solidFill>
                <a:latin typeface="Arial"/>
              </a:rPr>
              <a:t>Sistema de Gestão Empresarial — Europa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4DC"/>
                </a:solidFill>
                <a:latin typeface="Arial"/>
              </a:rPr>
              <a:t>Contabilidade, financeiro, jurídico, marketing e educação de investimento —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4DC"/>
                </a:solidFill>
                <a:latin typeface="Arial"/>
              </a:rPr>
              <a:t>um único painel, adaptado ao mercado português e à moeda EUR.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5074920"/>
            <a:ext cx="640080" cy="0"/>
          </a:xfrm>
          <a:prstGeom prst="line">
            <a:avLst/>
          </a:prstGeom>
          <a:ln w="28575">
            <a:solidFill>
              <a:srgbClr val="DD9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5257800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 i="0">
                <a:solidFill>
                  <a:srgbClr val="7C8AA8"/>
                </a:solidFill>
                <a:latin typeface="Arial"/>
              </a:rPr>
              <a:t>Grupo Sena — Soluções Empresariais</a:t>
            </a:r>
          </a:p>
          <a:p>
            <a:pPr algn="l">
              <a:lnSpc>
                <a:spcPct val="160000"/>
              </a:lnSpc>
            </a:pPr>
            <a:r>
              <a:rPr sz="1150" b="0" i="0">
                <a:solidFill>
                  <a:srgbClr val="7C8AA8"/>
                </a:solidFill>
                <a:latin typeface="Arial"/>
              </a:rPr>
              <a:t>Gilberto Sena — CEO</a:t>
            </a:r>
          </a:p>
          <a:p>
            <a:pPr algn="l">
              <a:lnSpc>
                <a:spcPct val="160000"/>
              </a:lnSpc>
            </a:pPr>
            <a:r>
              <a:rPr sz="1150" b="0" i="0">
                <a:solidFill>
                  <a:srgbClr val="7C8AA8"/>
                </a:solidFill>
                <a:latin typeface="Arial"/>
              </a:rPr>
              <a:t>Documento de trabalho · Agosto de 2026 · Cópia PT/EUR do business plan original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NOTA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0182A"/>
                </a:solidFill>
                <a:latin typeface="Arial"/>
              </a:rPr>
              <a:t>Como ler este documento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81328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459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579"/>
                </a:solidFill>
                <a:latin typeface="Arial"/>
              </a:rPr>
              <a:t>Separar fato de premissa, sempre — mesma disciplina do business plan original, adaptada ao mercado português.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48716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87168"/>
            <a:ext cx="2377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A78D6"/>
                </a:solidFill>
                <a:latin typeface="Arial"/>
              </a:rPr>
              <a:t>FONTE EXTERNA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Arial"/>
              </a:rPr>
              <a:t>Salários vêm de Indeed.pt, Jobted.pt e Talent.com Portugal (2026), com fonte citada em cada pilar. Portugal não tem uma base pública única como o CAGED brasileiro.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2860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248716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C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487168"/>
            <a:ext cx="2377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B6834"/>
                </a:solidFill>
                <a:latin typeface="Arial"/>
              </a:rPr>
              <a:t>PREÇO EM DEFINIÇÃO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9260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Arial"/>
              </a:rPr>
              <a:t>O preço do OCEO em EUR ainda não está fechado — este documento existe pra dar ao Gilberto o custo real de profissional em Portugal, base pra decidir o preço.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2860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48716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487168"/>
            <a:ext cx="2377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6A34A"/>
                </a:solidFill>
                <a:latin typeface="Arial"/>
              </a:rPr>
              <a:t>PREMISSA / A VALIDAR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9260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Arial"/>
              </a:rPr>
              <a:t>Perfis sem cargo exato em Portugal (ex.: SDR, Analista de Investimentos) usam profissão próxima como estimativa — marcado em cada caso.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43400"/>
            <a:ext cx="108813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5C"/>
                </a:solidFill>
                <a:latin typeface="Arial"/>
              </a:rPr>
              <a:t>Câmbio de referência — 1 EUR = 5,89 BRL (agosto/2026)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64608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B6579"/>
                </a:solidFill>
                <a:latin typeface="Arial"/>
              </a:rPr>
              <a:t>O preço brasileiro (setup R$ 12.500 + mensalidade R$ 3.500) convertido direto vira setup 2.122 € + mensalidade 594 €/mês — mas isso é só referência de câmbio, não o preço pra Portugal. O custo de mão de obra portuguesa é mais alto que o brasileiro em termos absolutos (ver Pilares GC–GI), então o preço final em EUR é decisão do Gilberto, não uma conversão automática.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01 ·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0182A"/>
                </a:solidFill>
                <a:latin typeface="Arial"/>
              </a:rPr>
              <a:t>PMEs portuguesas gerem no escuro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81328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9164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B6579"/>
                </a:solidFill>
                <a:latin typeface="Arial"/>
              </a:rPr>
              <a:t>O pequeno e médio empresário fatura, mas frequentemente não sabe se está lucrando de verdade — porque a gestão da empresa mora em planilhas soltas, grupos de WhatsApp e na memória do dono.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5257800" cy="338328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7335C"/>
                </a:solidFill>
                <a:latin typeface="Arial"/>
              </a:rPr>
              <a:t>Sintomas recorrentes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47548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Mistura entre finanças pessoais (PF) e da empresa (PJ)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Ausência de ponto de equilíbrio calculado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Decisão comercial sem dado de margem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Contrato assinado sem revisão jurídica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RH sem processo de contratação estruturado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Nenhum painel único que junte tudo isso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606040"/>
            <a:ext cx="5394960" cy="33832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7889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D9A34"/>
                </a:solidFill>
                <a:latin typeface="Arial"/>
              </a:rPr>
              <a:t>A causa raiz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91840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FD8EC"/>
                </a:solidFill>
                <a:latin typeface="Arial"/>
              </a:rPr>
              <a:t>Contratar uma estrutura completa — contador, financeiro, jurídico, marketing, RH — custa caro demais pra maioria das PMEs. Então a gestão vira improviso.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FD8EC"/>
                </a:solidFill>
                <a:latin typeface="Arial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FD8EC"/>
                </a:solidFill>
                <a:latin typeface="Arial"/>
              </a:rPr>
              <a:t>Sistemas genéricos de mercado cobrem só um pedaço do problema (financeiro OU vendas), forçando o empresário a integrar vários sistemas por conta própria.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02 · 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41248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Cinco pilares. Uma mensalidade.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7160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536192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579"/>
                </a:solidFill>
                <a:latin typeface="Arial"/>
              </a:rPr>
              <a:t>PME não contrata diretoria completa. O OCEO junta as cinco funções num painel só — nenhum pilar é vendido avulso.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Contabilidade &amp; RH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Contábil, Fiscal, DP, RH e Legalização internos.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4672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4672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91,9%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59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44951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44951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4951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Gestão Financeira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1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DRE, caixa, EBITDA, ROI e fundo de reserva.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44951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44951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74,6%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4951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38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85230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0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0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Jurídico Consultivo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5230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Contratos, análise de risco, oportunidade legal.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85230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285230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77,8%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5230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17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25509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25509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09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Marketing &amp; Vendas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5509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Agência e comercial rodando todo dia.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525509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525509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89,3%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09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196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765788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65788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5788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Educação Pré-Investimento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88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Prepara o empresário, não recomenda produto.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765788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765788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70,9%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65788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1 · CONTABILIDADE / 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Contabilidade &amp; RH internos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Escritório de contabilidade interno para gestão — Contábil, Fiscal, DP, RH e Legalização por dentro de casa. O contabilista certificado (OCC) externo continua existindo, para a obrigação legal assinada — o dado interno vira poder de negociar com 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Contábil — apuração, conciliação, balancete, DRE, custos/despesas/entradas/retiradas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Fiscal — impostos, declarações, linkado à Autoridade Tributária e Aduaneira (AT)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DP — processamento salarial, admissão/demissão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RH — atração, seleção, entrevista virtual por IA, análise comportamental, apoio em negociação salarial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Legalização — registos e certidões municipal, distrital e nacional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Ponto de atenção: em Portugal, contas organizadas e declarações fiscais exigem Contabilista Certificado inscrito na OCC — o gabinete externo do cliente não é substituído.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Equipe interna equivalente (4 perfis, 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6.758,79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91,9%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01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2 · ERP FINANCEIRO + BANCO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Gestão Financeira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Integra dado bancário (Open Banking/PSD2) ao que o Pilar GC já apurou. Traduz DRE, caixa livre, EBITDA, ROI e valuation em linguagem simples, com política de fundo de reserva automática.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Integração bancária — leitura de entradas e saídas em tempo real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DRE explicado: caixa livre, caixa circulante, margem de contribuição, EBITDA, ROI, valuation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Transparência PF x PJ — impacto real do gasto pessoal no caixa livre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Fundo de reserva automático: 3 meses de ponto de equilíbrio (padrão fixo)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Comparado a um Diretor Financeiro (2.689,71 €/mês em Portugal), a economia sobe para 77,9% — o pilar entrega leitura de nível diretoria.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vs. Analista Financeiro (Portugal)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1.744,65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74,6%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02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3 · ADVOGADO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Jurídico Consultivo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PME pequena/média não tem e não contrata advogado. O OCEO entra como advogado consultivo full-time, sem substituir advogado inscrito na Ordem dos Advogados para executar.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Contratos padrão/modelo — mesmo critério usado por IA jurídica de mercado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Análise de contrato: aponta incoerência e risco (compra, sociedade, venda)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Busca de oportunidade legal de redução de custo tributário/financeiro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Esclarecimento jurídico simples, disponível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Advocacia é atividade privativa de advogado inscrito na Ordem dos Advogados — personalização fora do padrão é encaminhada ao advogado de confiança do cliente.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vs. Advogado (Portugal)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2.082,48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77,8%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03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4 · AGÊNCIA + COMERCIAL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Marketing &amp; Vendas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Social media, tráfego pago e atendimento comercial via IA — como se a empresa tivesse uma agência completa por dentro, cobrindo o negócio e o próprio empresário.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Social media: copy, carrossel, imagem, publicação manual e programada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Tráfego pago junto às plataformas (verba de mídia é orçamento à parte do cliente)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Atendimento via agente de IA: funil até o fechamento, mesmo em operação física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Campanha específica → assessoria externa; dia a dia e lead orgânico → o pilar cobre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WhatsApp Business API cobra por conversa — tarifário europeu (EUR) ainda precisa ser confirmado com a Meta, não assumir o mesmo valor usado no Brasil.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Equipe interna equivalente (3 perfis, 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4.949,77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89,3%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04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5 · MERCADO FINANCEIRO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Educação Pré-Investimento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Só entra em ação depois que o fundo de reserva do Pilar GF está completo. Rota educacional/genérica — não individualiza recomendação por NIF/NIPC, não vincula corretora como parceira.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Conteúdo educacional por categoria de perfil (conservador, moderado, arrojado)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Panorama de renda fixa/variável, obrigações e criptoativos — sem recomendação individualizada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Fibonacci e outras ferramentas técnicas, sobre dado de mercado público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Disclaimer em toda saída: conteúdo educacional, não recomendação de investimento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CMVM (o equivalente português à CVM) trata recomendação individualizada por sistema automatizado como consultoria de valores mobiliários regulada.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vs. Analista de Investimentos (Portugal, estimativa)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1.447,23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70,9%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05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591820"/>
            <a:ext cx="256032" cy="0"/>
          </a:xfrm>
          <a:prstGeom prst="line">
            <a:avLst/>
          </a:prstGeom>
          <a:ln w="19050">
            <a:solidFill>
              <a:srgbClr val="6FA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FA8F0"/>
                </a:solidFill>
                <a:latin typeface="Arial"/>
              </a:rPr>
              <a:t>O PLACAR · SOMA DOS 5 PILARES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4124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Arial"/>
              </a:rPr>
              <a:t>O que a PME pagaria pra montar tudo isso por dentro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B9C4DC"/>
                </a:solidFill>
                <a:latin typeface="Arial"/>
              </a:rPr>
              <a:t>Somando o custo de contratar cada função separadamente — leitura conservadora (Analista Financeiro no Pilar GF, não Diretor).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7400"/>
          <a:ext cx="5486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880360"/>
                <a:gridCol w="192024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Código</a:t>
                      </a:r>
                    </a:p>
                  </a:txBody>
                  <a:tcPr anchor="ctr"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Pilar</a:t>
                      </a:r>
                    </a:p>
                  </a:txBody>
                  <a:tcPr anchor="ctr"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Custo mensal</a:t>
                      </a:r>
                    </a:p>
                  </a:txBody>
                  <a:tcPr anchor="ctr">
                    <a:solidFill>
                      <a:srgbClr val="1C2B4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GC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Contabilidade/BI + RH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7.353,02 €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GF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Gestão Financeira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2.338,88 €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GJ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Jurídico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2.676,71 €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GM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Marketing e Vendas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5.544,00 €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GI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Educação Pré-Investimento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2.041,46 €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Total equipe interna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D9A34"/>
                </a:solidFill>
                <a:latin typeface="Arial"/>
              </a:rPr>
              <a:t>19.954,07 € / mês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92240" y="1965960"/>
          <a:ext cx="502920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92240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19.359,84 €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ECONOMIA / MÊS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36992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97,0%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ECONOMIA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1744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≈ 3 DIAS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45752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PAYBACK SETUP*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826496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90504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232.318 €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90504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EM 12 MESES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8A93A8"/>
                </a:solidFill>
                <a:latin typeface="Arial"/>
              </a:rPr>
              <a:t>* Usando "OCEO (ref.)" = conversão direta do preço brasileiro (594,23 €/mês) — não é o preço decidido pra Portugal. Ver próximo slide.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7C8A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OCEO · Europa (Portugal)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03 · O 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Elementos pra precificar em Portugal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81328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6420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Diferente do business plan brasileiro, aqui o preço final é decisão do Gilberto — este slide reúne os três números pra decidir.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3429000" cy="27432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A92A6"/>
                </a:solidFill>
                <a:latin typeface="Arial"/>
              </a:rPr>
              <a:t>PISO — CONVERSÃO DIRETA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7335C"/>
                </a:solidFill>
                <a:latin typeface="Arial"/>
              </a:rPr>
              <a:t>594 €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579"/>
                </a:solidFill>
                <a:latin typeface="Arial"/>
              </a:rPr>
              <a:t>por mês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R$ 3.500 convertido ao câmbio de agosto/2026 (1 EUR = 5,89 BRL). Não considera o custo de vida nem o poder de compra português — é só matemática de câmbio.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286000"/>
            <a:ext cx="3429000" cy="27432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FA8F0"/>
                </a:solidFill>
                <a:latin typeface="Arial"/>
              </a:rPr>
              <a:t>TETO — CUSTO DE EQUIPE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7432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DD9A34"/>
                </a:solidFill>
                <a:latin typeface="Arial"/>
              </a:rPr>
              <a:t>19.954 €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9C4DC"/>
                </a:solidFill>
                <a:latin typeface="Arial"/>
              </a:rPr>
              <a:t>por mês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6118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FD8EC"/>
                </a:solidFill>
                <a:latin typeface="Arial"/>
              </a:rPr>
              <a:t>Custo de montar a equipe interna equivalente em Portugal (os 5 pilares somados). Qualquer preço abaixo disso já é economia real pro cliente.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28600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FBF3E9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4871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A5A15"/>
                </a:solidFill>
                <a:latin typeface="Arial"/>
              </a:rPr>
              <a:t>A FAIXA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4320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8A5A15"/>
                </a:solidFill>
                <a:latin typeface="Arial"/>
              </a:rPr>
              <a:t>594 € – 19.954 €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246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5A15"/>
                </a:solidFill>
                <a:latin typeface="Arial"/>
              </a:rPr>
              <a:t>zona de decisão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611880"/>
            <a:ext cx="3200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B4A1E"/>
                </a:solidFill>
                <a:latin typeface="Arial"/>
              </a:rPr>
              <a:t>Considerar também: preço de concorrentes locais (slide Mercado), poder de compra português e o setup em EUR (referência: 2.122 €, mesma lógica de conversão).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5780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413248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Setup de referência: 2.122 € (conversão direta de R$ 12.500). Pensado pra PME acima de ~50.000 €/mês de faturamento — faixa a validar com o mercado português (ver Mercado, próximo slide).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04 ·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Um mercado de 1,45 milhão de empresas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6304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1.452.225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PME ativas em Portugal (PORDATA/INE, 2022)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99,9%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Das empresas não financeiras em Portugal são PME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4,7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Pessoas empregadas por PME em Portugal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550,3 bi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Volume de negócios das PME portuguesas (2023)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5C"/>
                </a:solidFill>
                <a:latin typeface="Arial"/>
              </a:rPr>
              <a:t>Preço de concorrentes PME em Portugal (mensal)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40080" y="3977639"/>
          <a:ext cx="539496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09360" y="3977639"/>
            <a:ext cx="52120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Moloni 5–40 € · InvoiceXpress a partir de 8 € · Primavera Jasmin ~15 € · PHC GO/Sage 20–40 € · Primavera Premium (com contabilidade) a partir de 150 €/mês — mas cobrem faturação/contabilidade isolada, não os 5 pilares completos do OCEO (jurídico, marketing, educação de investimento).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591820"/>
            <a:ext cx="256032" cy="0"/>
          </a:xfrm>
          <a:prstGeom prst="line">
            <a:avLst/>
          </a:prstGeom>
          <a:ln w="19050">
            <a:solidFill>
              <a:srgbClr val="6FA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FA8F0"/>
                </a:solidFill>
                <a:latin typeface="Arial"/>
              </a:rPr>
              <a:t>05 · META DE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4124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Se o OCEO capturar 0,1% desse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17320"/>
            <a:ext cx="457200" cy="0"/>
          </a:xfrm>
          <a:prstGeom prst="line">
            <a:avLst/>
          </a:prstGeom>
          <a:ln w="28575">
            <a:solidFill>
              <a:srgbClr val="DD9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7830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20025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DD9A34"/>
                </a:solidFill>
                <a:latin typeface="Arial"/>
              </a:rPr>
              <a:t>1.452.225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9FB6DD"/>
                </a:solidFill>
                <a:latin typeface="Arial"/>
              </a:rPr>
              <a:t>PME em Portugal (TAM, PORDATA/INE)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7830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938528"/>
            <a:ext cx="20025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DD9A34"/>
                </a:solidFill>
                <a:latin typeface="Arial"/>
              </a:rPr>
              <a:t>× 0,1%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487168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9FB6DD"/>
                </a:solidFill>
                <a:latin typeface="Arial"/>
              </a:rPr>
              <a:t>Meta de participação de mercado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7830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1938528"/>
            <a:ext cx="20025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DD9A34"/>
                </a:solidFill>
                <a:latin typeface="Arial"/>
              </a:rPr>
              <a:t>= 1.452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2487168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9FB6DD"/>
                </a:solidFill>
                <a:latin typeface="Arial"/>
              </a:rPr>
              <a:t>Clientes-alvo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461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FD8EC"/>
                </a:solidFill>
                <a:latin typeface="Arial"/>
              </a:rPr>
              <a:t>1.452 clientes  ×  594 €/mês (preço de referência)  ×  12 meses de contrato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03320"/>
            <a:ext cx="6400800" cy="1737360"/>
          </a:xfrm>
          <a:prstGeom prst="roundRect">
            <a:avLst>
              <a:gd name="adj" fmla="val 8000"/>
            </a:avLst>
          </a:prstGeom>
          <a:solidFill>
            <a:srgbClr val="1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8620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9FB6DD"/>
                </a:solidFill>
                <a:latin typeface="Arial"/>
              </a:rPr>
              <a:t>RECEITA ANUAL PROJETADA (MENSALIDADE, PREÇO REF.)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DD9A34"/>
                </a:solidFill>
                <a:latin typeface="Arial"/>
              </a:rPr>
              <a:t>10.355.424 €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3703320"/>
            <a:ext cx="4297680" cy="1737360"/>
          </a:xfrm>
          <a:prstGeom prst="roundRect">
            <a:avLst>
              <a:gd name="adj" fmla="val 8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388620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9FB6DD"/>
                </a:solidFill>
                <a:latin typeface="Arial"/>
              </a:rPr>
              <a:t>SETUP, SE OS 1.452 FOSSEM NOVOS NO 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4224528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3.081.463 €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4828032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8A93A8"/>
                </a:solidFill>
                <a:latin typeface="Arial"/>
              </a:rPr>
              <a:t>1.452 × 2.122 € (hipotético — ilustra o teto, não uma premissa de ritmo de vendas)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6235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2A2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779008"/>
            <a:ext cx="10332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E8C98A"/>
                </a:solidFill>
                <a:latin typeface="Arial"/>
              </a:rPr>
              <a:t>⚠  Duas premissas empilhadas: 0,1% de participação NÃO é validado por funil comercial, e o preço usado é a conversão de referência (594 €), não o preço final decidido pra Portugal — mude o preço e este número muda.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7C8A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OCEO · Europa (Portugal)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06 · GOVERNANÇA DO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O OCEO orienta, não decide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6304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459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579"/>
                </a:solidFill>
                <a:latin typeface="Arial"/>
              </a:rPr>
              <a:t>Em todos os pilares regulados, o sistema soma-se ao profissional certificado — nunca o substitui.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352044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651760"/>
            <a:ext cx="685800" cy="36576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517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7335C"/>
                </a:solidFill>
                <a:latin typeface="Arial"/>
              </a:rPr>
              <a:t>OCC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3063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Contas organizadas e declarações fiscais exigem Contabilista Certificado inscrito na Ordem dos Contabilistas Certificados. O gabinete externo do cliente continua assinando.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23160"/>
            <a:ext cx="352044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651760"/>
            <a:ext cx="685800" cy="36576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6517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7335C"/>
                </a:solidFill>
                <a:latin typeface="Arial"/>
              </a:rPr>
              <a:t>Ordem Advogados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00400"/>
            <a:ext cx="3063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Advocacia é atividade privativa de advogado inscrito na Ordem dos Advogados. Personalização fora do padrão é encaminhada ao advogado do cliente.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23160"/>
            <a:ext cx="352044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75320" y="2651760"/>
            <a:ext cx="685800" cy="36576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6517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7335C"/>
                </a:solidFill>
                <a:latin typeface="Arial"/>
              </a:rPr>
              <a:t>CMVM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00400"/>
            <a:ext cx="3063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Recomendação individualizada por perfil é consultoria de valores mobiliários regulada pela CMVM. O pilar é educacional, não recomenda produto por NIF/NIPC.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07 ·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O que falta pra fechar cada pilar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6304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74519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7335C"/>
                </a:solidFill>
                <a:latin typeface="Arial"/>
              </a:rPr>
              <a:t>Geral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19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Decidir o preço final em EUR — este documento dá o piso (594 €, conversão) e o teto (19.954 €, custo de equipe), a faixa é decisão do Gilberto.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87751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87751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87751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Confirmar se a mesma equipe cobre Fiscal separado do Contabilista — em Portugal a OCC tende a juntar as duas funções num só profissional.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00983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00983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00983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Validar viabilidade e custo da integração Open Banking/PSD2 com bancos portugueses.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14215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14215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14215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Definir se há advogado parceiro fixo do OCEO em Portugal para personalização/execução.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27447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727447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27447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Confirmar tarifário EUR do WhatsApp Business API — não assumir o valor usado no Brasil.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40679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40679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0679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Validar com jurídico local se a rota educacional atende às regras da CMVM (podem diferir da CVM brasileira).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Arial"/>
              </a:rPr>
              <a:t>OCEO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" y="3429000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DD9A34"/>
                </a:solidFill>
                <a:latin typeface="Arial"/>
              </a:rPr>
              <a:t>O painel de comando que toda PME devia ter — agora em Portugal.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4160520"/>
            <a:ext cx="548640" cy="0"/>
          </a:xfrm>
          <a:prstGeom prst="line">
            <a:avLst/>
          </a:prstGeom>
          <a:ln w="28575">
            <a:solidFill>
              <a:srgbClr val="DD9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4343400"/>
            <a:ext cx="8686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9FB6DD"/>
                </a:solidFill>
                <a:latin typeface="Arial"/>
              </a:rPr>
              <a:t>Sistema de Gestão Empresarial — Grupo Sena</a:t>
            </a:r>
          </a:p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9FB6DD"/>
                </a:solidFill>
                <a:latin typeface="Arial"/>
              </a:rPr>
              <a:t>Gilberto Sena — CEO</a:t>
            </a:r>
          </a:p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9FB6DD"/>
                </a:solidFill>
                <a:latin typeface="Arial"/>
              </a:rPr>
              <a:t>Documento de trabalho · Agosto de 2026 · Cópia PT/EUR do business plan original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