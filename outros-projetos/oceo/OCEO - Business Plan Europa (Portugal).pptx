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7353.02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2338.88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2676.71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5544.0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2A78D6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/ Perfil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2041.46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Custo mensal (€)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EB6834"/>
              </a:solidFill>
            </c:spPr>
          </c:dPt>
          <c:dPt>
            <c:idx val="1"/>
            <c:spPr>
              <a:solidFill>
                <a:srgbClr val="DD9A34"/>
              </a:solidFill>
            </c:spPr>
          </c:dPt>
          <c:cat>
            <c:strRef>
              <c:f>Sheet1!$A$2:$A$3</c:f>
              <c:strCache>
                <c:ptCount val="2"/>
                <c:pt idx="0">
                  <c:v>Equipe interna (5 pilares)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19954.07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Faixa média €/mês</c:v>
                </c:pt>
              </c:strCache>
            </c:strRef>
          </c:tx>
          <c:spPr>
            <a:solidFill/>
          </c:spPr>
          <c:dPt>
            <c:idx val="0"/>
            <c:spPr>
              <a:solidFill>
                <a:srgbClr val="8A92A6"/>
              </a:solidFill>
            </c:spPr>
          </c:dPt>
          <c:dPt>
            <c:idx val="1"/>
            <c:spPr>
              <a:solidFill>
                <a:srgbClr val="DD9A34"/>
              </a:solidFill>
            </c:spPr>
          </c:dPt>
          <c:cat>
            <c:strRef>
              <c:f>Sheet1!$A$2:$A$3</c:f>
              <c:strCache>
                <c:ptCount val="2"/>
                <c:pt idx="0">
                  <c:v>Moloni</c:v>
                </c:pt>
                <c:pt idx="1">
                  <c:v>OCEO (ref.)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594.23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sz="1100" b="1">
                  <a:solidFill>
                    <a:srgbClr val="10182A"/>
                  </a:solidFill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3E7EF"/>
            </a:solidFill>
          </a:ln>
        </c:spPr>
        <c:txPr>
          <a:bodyPr/>
          <a:lstStyle/>
          <a:p>
            <a:pPr>
              <a:defRPr sz="1100">
                <a:solidFill>
                  <a:srgbClr val="5B6579"/>
                </a:solidFill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6FA8F0"/>
                </a:solidFill>
                <a:latin typeface="Arial"/>
              </a:rPr>
              <a:t>BUSINESS PLAN · MERCADO EUROPEU (PORTUGAL)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77824" y="2286000"/>
            <a:ext cx="96012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0" b="1" i="0">
                <a:solidFill>
                  <a:srgbClr val="FFFFFF"/>
                </a:solidFill>
                <a:latin typeface="Arial"/>
              </a:rPr>
              <a:t>OCEO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0" i="0">
                <a:solidFill>
                  <a:srgbClr val="DD9A34"/>
                </a:solidFill>
                <a:latin typeface="Arial"/>
              </a:rPr>
              <a:t>Sistema de Gestão Empresarial — Europa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069080"/>
            <a:ext cx="8229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4DC"/>
                </a:solidFill>
                <a:latin typeface="Arial"/>
              </a:rPr>
              <a:t>Contabilidade, financeiro, jurídico, marketing e educação de investimento —</a:t>
            </a:r>
          </a:p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B9C4DC"/>
                </a:solidFill>
                <a:latin typeface="Arial"/>
              </a:rPr>
              <a:t>um único painel, adaptado ao mercado português e à moeda EUR.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914400" y="5074920"/>
            <a:ext cx="640080" cy="0"/>
          </a:xfrm>
          <a:prstGeom prst="line">
            <a:avLst/>
          </a:prstGeom>
          <a:ln w="28575">
            <a:solidFill>
              <a:srgbClr val="DD9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914400" y="5257800"/>
            <a:ext cx="7315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150" b="0" i="0">
                <a:solidFill>
                  <a:srgbClr val="7C8AA8"/>
                </a:solidFill>
                <a:latin typeface="Arial"/>
              </a:rPr>
              <a:t>Grupo Sena — Soluções Empresariais</a:t>
            </a:r>
          </a:p>
          <a:p>
            <a:pPr algn="l">
              <a:lnSpc>
                <a:spcPct val="160000"/>
              </a:lnSpc>
            </a:pPr>
            <a:r>
              <a:rPr sz="1150" b="0" i="0">
                <a:solidFill>
                  <a:srgbClr val="7C8AA8"/>
                </a:solidFill>
                <a:latin typeface="Arial"/>
              </a:rPr>
              <a:t>Gilberto Sena — CEO</a:t>
            </a:r>
          </a:p>
          <a:p>
            <a:pPr algn="l">
              <a:lnSpc>
                <a:spcPct val="160000"/>
              </a:lnSpc>
            </a:pPr>
            <a:r>
              <a:rPr sz="1150" b="0" i="0">
                <a:solidFill>
                  <a:srgbClr val="7C8AA8"/>
                </a:solidFill>
                <a:latin typeface="Arial"/>
              </a:rPr>
              <a:t>Documento de trabalho · Agosto de 2026 · Cópia PT/EUR do business plan original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NOTA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9144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0182A"/>
                </a:solidFill>
                <a:latin typeface="Arial"/>
              </a:rPr>
              <a:t>Como ler este documento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81328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459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9"/>
                </a:solidFill>
                <a:latin typeface="Arial"/>
              </a:rPr>
              <a:t>Separar fato de premissa, sempre — mesma disciplina do business plan original, adaptada ao mercado português.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48716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EF3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487168"/>
            <a:ext cx="2377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2A78D6"/>
                </a:solidFill>
                <a:latin typeface="Arial"/>
              </a:rPr>
              <a:t>FONTE EXTERNA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260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Arial"/>
              </a:rPr>
              <a:t>Salários vêm de Indeed.pt, Jobted.pt e Talent.com Portugal (2026), com fonte citada em cada pilar. Portugal não tem uma base pública única como o CAGED brasileiro.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89120" y="22860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17720" y="248716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FCE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487168"/>
            <a:ext cx="2377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EB6834"/>
                </a:solidFill>
                <a:latin typeface="Arial"/>
              </a:rPr>
              <a:t>PREÇO DEFINIDO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9260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Arial"/>
              </a:rPr>
              <a:t>O preço do OCEO em EUR foi decidido pelo Gilberto: setup 2.950 € + mensalidade 850 €/mês. Este documento mantém o custo real de profissional em Portugal como base que sustentou a decisão.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286000"/>
            <a:ext cx="3520440" cy="1828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366760" y="2487168"/>
            <a:ext cx="2377440" cy="329184"/>
          </a:xfrm>
          <a:prstGeom prst="roundRect">
            <a:avLst>
              <a:gd name="adj" fmla="val 50000"/>
            </a:avLst>
          </a:prstGeom>
          <a:solidFill>
            <a:srgbClr val="E7F6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487168"/>
            <a:ext cx="2377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16A34A"/>
                </a:solidFill>
                <a:latin typeface="Arial"/>
              </a:rPr>
              <a:t>PREMISSA / A VALIDAR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2926080"/>
            <a:ext cx="30632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Arial"/>
              </a:rPr>
              <a:t>Perfis sem cargo exato em Portugal (ex.: SDR, Analista de Investimentos) usam profissão próxima como estimativa — marcado em cada caso.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43400"/>
            <a:ext cx="1088136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526280"/>
            <a:ext cx="10332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5C"/>
                </a:solidFill>
                <a:latin typeface="Arial"/>
              </a:rPr>
              <a:t>Câmbio de referência — 1 EUR = 5,89 BRL (agosto/2026)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64608"/>
            <a:ext cx="10332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i="0">
                <a:solidFill>
                  <a:srgbClr val="5B6579"/>
                </a:solidFill>
                <a:latin typeface="Arial"/>
              </a:rPr>
              <a:t>O custo de mão de obra portuguesa é mais alto que o brasileiro em termos absolutos (ver Pilares GC–GI). O preço decidido pelo Gilberto para Portugal — setup 2.950 € + mensalidade 850 €/mês — reflete essa diferença de custo de vida e mercado.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01 ·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0182A"/>
                </a:solidFill>
                <a:latin typeface="Arial"/>
              </a:rPr>
              <a:t>PMEs portuguesas gerem no escuro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81328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91640"/>
            <a:ext cx="9875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 i="0">
                <a:solidFill>
                  <a:srgbClr val="5B6579"/>
                </a:solidFill>
                <a:latin typeface="Arial"/>
              </a:rPr>
              <a:t>O pequeno e médio empresário fatura, mas frequentemente não sabe se está lucrando de verdade — porque a gestão da empresa mora em planilhas soltas, grupos de WhatsApp e na memória do dono.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606040"/>
            <a:ext cx="5257800" cy="3383280"/>
          </a:xfrm>
          <a:prstGeom prst="roundRect">
            <a:avLst>
              <a:gd name="adj" fmla="val 5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4754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7335C"/>
                </a:solidFill>
                <a:latin typeface="Arial"/>
              </a:rPr>
              <a:t>Sintomas recorrentes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246120"/>
            <a:ext cx="4754880" cy="2560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Mistura entre finanças pessoais (PF) e da empresa (PJ)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Ausência de ponto de equilíbrio calculado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Decisão comercial sem dado de margem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Contrato assinado sem revisão jurídica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RH sem processo de contratação estruturado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1300" b="1">
                <a:solidFill>
                  <a:srgbClr val="DD9A34"/>
                </a:solidFill>
                <a:latin typeface="Arial"/>
              </a:rPr>
              <a:t>—  </a:t>
            </a:r>
            <a:r>
              <a:rPr sz="1300">
                <a:solidFill>
                  <a:srgbClr val="333333"/>
                </a:solidFill>
                <a:latin typeface="Arial"/>
              </a:rPr>
              <a:t>Nenhum painel único que junte tudo isso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2606040"/>
            <a:ext cx="5394960" cy="338328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278892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DD9A34"/>
                </a:solidFill>
                <a:latin typeface="Arial"/>
              </a:rPr>
              <a:t>A causa raiz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91840"/>
            <a:ext cx="484632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FD8EC"/>
                </a:solidFill>
                <a:latin typeface="Arial"/>
              </a:rPr>
              <a:t>Contratar uma estrutura completa — contador, financeiro, jurídico, marketing, RH — custa caro demais pra maioria das PMEs. Então a gestão vira improviso.</a:t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FD8EC"/>
                </a:solidFill>
                <a:latin typeface="Arial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CFD8EC"/>
                </a:solidFill>
                <a:latin typeface="Arial"/>
              </a:rPr>
              <a:t>Sistemas genéricos de mercado cobrem só um pedaço do problema (financeiro OU vendas), forçando o empresário a integrar vários sistemas por conta própria.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02 · A SOLUÇÃO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41248"/>
            <a:ext cx="105156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Cinco pilares. Uma mensalidade.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37160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536192"/>
            <a:ext cx="10241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9"/>
                </a:solidFill>
                <a:latin typeface="Arial"/>
              </a:rPr>
              <a:t>PME não contrata diretoria completa. O OCEO junta as cinco funções num painel só — nenhum pilar é vendido avulso.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4672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Contabilidade &amp; RH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Contábil, Fiscal, DP, RH e Legalização internos.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04672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804672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91,9%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80359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044951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44951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44951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Gestão Financeira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44951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DRE, caixa, EBITDA, ROI e fundo de reserva.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044951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3044951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74,6%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44951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120638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5285230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85230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85230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Jurídico Consultivo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85230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Contratos, análise de risco, oportunidade legal.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85230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5285230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77,8%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85230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360917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525509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25509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5509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Marketing &amp; Vendas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25509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Agência e comercial rodando todo dia.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525509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525509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89,3%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525509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601196" y="2240280"/>
            <a:ext cx="2084831" cy="356616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9765788" y="2450592"/>
            <a:ext cx="777240" cy="384048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765788" y="2450592"/>
            <a:ext cx="77724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65788" y="2999232"/>
            <a:ext cx="1755647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50" b="1" i="0">
                <a:solidFill>
                  <a:srgbClr val="17335C"/>
                </a:solidFill>
                <a:latin typeface="Arial"/>
              </a:rPr>
              <a:t>Educação Pré-Investimento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765788" y="3794760"/>
            <a:ext cx="175564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Prepara o empresário, não recomenda produto.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765788" y="5074920"/>
            <a:ext cx="1755647" cy="0"/>
          </a:xfrm>
          <a:prstGeom prst="line">
            <a:avLst/>
          </a:prstGeom>
          <a:ln w="9525">
            <a:solidFill>
              <a:srgbClr val="E3E7E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765788" y="5193792"/>
            <a:ext cx="175564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200" b="1" i="0">
                <a:solidFill>
                  <a:srgbClr val="8A5A15"/>
                </a:solidFill>
                <a:latin typeface="Arial"/>
              </a:rPr>
              <a:t>70,9%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765788" y="5650992"/>
            <a:ext cx="175564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0">
                <a:solidFill>
                  <a:srgbClr val="8A92A6"/>
                </a:solidFill>
                <a:latin typeface="Arial"/>
              </a:rPr>
              <a:t>DE ECONOMIA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TextBox 47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1 · CONTABILIDADE / BI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Contabilidade &amp; RH internos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Escritório de contabilidade interno para gestão — Contábil, Fiscal, DP, RH e Legalização por dentro de casa. O contabilista certificado (OCC) externo continua existindo, para a obrigação legal assinada — o dado interno vira poder de negociar com ele.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Contábil — apuração, conciliação, balancete, DRE, custos/despesas/entradas/retiradas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Fiscal — impostos, declarações, linkado à Autoridade Tributária e Aduaneira (AT)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DP — processamento salarial, admissão/demissão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RH — atração, seleção, entrevista virtual por IA, análise comportamental, apoio em negociação salarial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Legalização — registos e certidões municipal, distrital e nacional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Ponto de atenção: em Portugal, contas organizadas e declarações fiscais exigem Contabilista Certificado inscrito na OCC — o gabinete externo do cliente não é substituído.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Equipe interna equivalente (4 perfis, 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6.503,02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88,4%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01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2 · ERP FINANCEIRO + BANCO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Gestão Financeira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Integra dado bancário (Open Banking/PSD2) ao que o Pilar GC já apurou. Traduz DRE, caixa livre, EBITDA, ROI e valuation em linguagem simples, com política de fundo de reserva automática.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Integração bancária — leitura de entradas e saídas em tempo real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DRE explicado: caixa livre, caixa circulante, margem de contribuição, EBITDA, ROI, valuation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Transparência PF x PJ — impacto real do gasto pessoal no caixa livre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Fundo de reserva automático: 3 meses de ponto de equilíbrio (padrão fixo)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Comparado a um Diretor Financeiro (2.689,71 €/mês em Portugal), a economia sobe para 68,4% — o pilar entrega leitura de nível diretoria.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vs. Analista Financeiro (Portugal)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1.488,88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63,7%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02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3 · ADVOGADO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Jurídico Consultivo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PME pequena/média não tem e não contrata advogado. O OCEO entra como advogado consultivo full-time, sem substituir advogado inscrito na Ordem dos Advogados para executar.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Contratos padrão/modelo — mesmo critério usado por IA jurídica de mercado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Análise de contrato: aponta incoerência e risco (compra, sociedade, venda)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Busca de oportunidade legal de redução de custo tributário/financeiro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Esclarecimento jurídico simples, disponível full-time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Advocacia é atividade privativa de advogado inscrito na Ordem dos Advogados — personalização fora do padrão é encaminhada ao advogado de confiança do cliente.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vs. Advogado (Portugal)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1.826,71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68,2%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03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GJ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4 · AGÊNCIA + COMERCIAL INTERNO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Marketing &amp; Vendas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Social media, tráfego pago e atendimento comercial via IA — como se a empresa tivesse uma agência completa por dentro, cobrindo o negócio e o próprio empresário.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Social media: copy, carrossel, imagem, publicação manual e programada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Tráfego pago junto às plataformas (verba de mídia é orçamento à parte do cliente)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Atendimento via agente de IA: funil até o fechamento, mesmo em operação física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Campanha específica → assessoria externa; dia a dia e lead orgânico → o pilar cobre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WhatsApp Business API cobra por conversa — tarifário europeu (EUR) ainda precisa ser confirmado com a Meta, não assumir o mesmo valor usado no Brasil.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Equipe interna equivalente (3 perfis, Portugal)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4.694,00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84,7%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04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685800" y="59182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101498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PILAR 5 · MERCADO FINANCEIRO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" y="868680"/>
            <a:ext cx="868680" cy="45720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868680"/>
            <a:ext cx="8686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868680"/>
            <a:ext cx="777240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10182A"/>
                </a:solidFill>
                <a:latin typeface="Arial"/>
              </a:rPr>
              <a:t>Educação Pré-Investimento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72768"/>
            <a:ext cx="64922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Só entra em ação depois que o fundo de reserva do Pilar GF está completo. Rota educacional/genérica — não individualiza recomendação por NIF/NIPC, não vincula corretora como parceira.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72491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17335C"/>
                </a:solidFill>
                <a:latin typeface="Arial"/>
              </a:rPr>
              <a:t>FUNCIONALIDADES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063240"/>
            <a:ext cx="6537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Conteúdo educacional por categoria de perfil (conservador, moderado, arrojado)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Panorama de renda fixa/variável, obrigações e criptoativos — sem recomendação individualizada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Fibonacci e outras ferramentas técnicas, sobre dado de mercado público</a:t>
            </a:r>
          </a:p>
          <a:p>
            <a:pPr>
              <a:lnSpc>
                <a:spcPct val="120000"/>
              </a:lnSpc>
              <a:spcAft>
                <a:spcPts val="900"/>
              </a:spcAft>
            </a:pPr>
            <a:r>
              <a:rPr sz="1200" b="1">
                <a:solidFill>
                  <a:srgbClr val="DD9A34"/>
                </a:solidFill>
                <a:latin typeface="Arial"/>
              </a:rPr>
              <a:t>—  </a:t>
            </a:r>
            <a:r>
              <a:rPr sz="1200">
                <a:solidFill>
                  <a:srgbClr val="5B6579"/>
                </a:solidFill>
                <a:latin typeface="Arial"/>
              </a:rPr>
              <a:t>Disclaimer em toda saída: conteúdo educacional, não recomendação de investimento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5806440"/>
            <a:ext cx="6537960" cy="594360"/>
          </a:xfrm>
          <a:prstGeom prst="roundRect">
            <a:avLst>
              <a:gd name="adj" fmla="val 15000"/>
            </a:avLst>
          </a:prstGeom>
          <a:solidFill>
            <a:srgbClr val="FBF3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5852160"/>
            <a:ext cx="62179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8A5A15"/>
                </a:solidFill>
                <a:latin typeface="Arial"/>
              </a:rPr>
              <a:t>⚠  CMVM (o equivalente português à CVM) trata recomendação individualizada por sistema automatizado como consultoria de valores mobiliários regulada.</a:t>
            </a:r>
          </a:p>
        </p:txBody>
      </p:sp>
      <p:graphicFrame>
        <p:nvGraphicFramePr>
          <p:cNvPr id="13" name="Chart 12"/>
          <p:cNvGraphicFramePr>
            <a:graphicFrameLocks noGrp="1"/>
          </p:cNvGraphicFramePr>
          <p:nvPr/>
        </p:nvGraphicFramePr>
        <p:xfrm>
          <a:off x="7543800" y="1554480"/>
          <a:ext cx="3977639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395020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50" b="0" i="0">
                <a:solidFill>
                  <a:srgbClr val="8A92A6"/>
                </a:solidFill>
                <a:latin typeface="Arial"/>
              </a:rPr>
              <a:t>vs. Analista de Investimentos (Portugal, estimativa)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438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1.191,46</a:t>
            </a:r>
          </a:p>
          <a:p>
            <a:pPr algn="ctr">
              <a:lnSpc>
                <a:spcPct val="100000"/>
              </a:lnSpc>
            </a:pPr>
            <a:r>
              <a:rPr sz="1500" b="1" i="0">
                <a:solidFill>
                  <a:srgbClr val="16A34A"/>
                </a:solidFill>
                <a:latin typeface="Arial"/>
              </a:rPr>
              <a:t>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/ MÊS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601200" y="4343400"/>
            <a:ext cx="192024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738360" y="4471416"/>
            <a:ext cx="1645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 i="0">
                <a:solidFill>
                  <a:srgbClr val="8A5A15"/>
                </a:solidFill>
                <a:latin typeface="Arial"/>
              </a:rPr>
              <a:t>58,4%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5010912"/>
            <a:ext cx="1645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900" b="0" i="0">
                <a:solidFill>
                  <a:srgbClr val="5B6579"/>
                </a:solidFill>
                <a:latin typeface="Arial"/>
              </a:rPr>
              <a:t>ECONOMIA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43800" y="5532120"/>
            <a:ext cx="3977639" cy="868680"/>
          </a:xfrm>
          <a:prstGeom prst="roundRect">
            <a:avLst>
              <a:gd name="adj" fmla="val 9000"/>
            </a:avLst>
          </a:prstGeom>
          <a:solidFill>
            <a:srgbClr val="1733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80" y="5650992"/>
            <a:ext cx="3611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9FB6DD"/>
                </a:solidFill>
                <a:latin typeface="Arial"/>
              </a:rPr>
              <a:t>PILAR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80" y="5907024"/>
            <a:ext cx="3611879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Arial"/>
              </a:rPr>
              <a:t>05 de 05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 · GI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591820"/>
            <a:ext cx="256032" cy="0"/>
          </a:xfrm>
          <a:prstGeom prst="line">
            <a:avLst/>
          </a:prstGeom>
          <a:ln w="19050">
            <a:solidFill>
              <a:srgbClr val="6FA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FA8F0"/>
                </a:solidFill>
                <a:latin typeface="Arial"/>
              </a:rPr>
              <a:t>O PLACAR · SOMA DOS 5 PILARES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4124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Arial"/>
              </a:rPr>
              <a:t>O que a PME pagaria pra montar tudo isso por dentro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81328"/>
            <a:ext cx="9875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 i="0">
                <a:solidFill>
                  <a:srgbClr val="B9C4DC"/>
                </a:solidFill>
                <a:latin typeface="Arial"/>
              </a:rPr>
              <a:t>Somando o custo de contratar cada função separadamente — leitura conservadora (Analista Financeiro no Pilar GF, não Diretor).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057400"/>
          <a:ext cx="548640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/>
                <a:gridCol w="2880360"/>
                <a:gridCol w="1920240"/>
              </a:tblGrid>
              <a:tr h="38862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Código</a:t>
                      </a:r>
                    </a:p>
                  </a:txBody>
                  <a:tcPr anchor="ctr"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Pilar</a:t>
                      </a:r>
                    </a:p>
                  </a:txBody>
                  <a:tcPr anchor="ctr">
                    <a:solidFill>
                      <a:srgbClr val="1C2B4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Custo mensal</a:t>
                      </a:r>
                    </a:p>
                  </a:txBody>
                  <a:tcPr anchor="ctr">
                    <a:solidFill>
                      <a:srgbClr val="1C2B4A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GC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Contabilidade/BI + RH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7.353,02 €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GF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Gestão Financeira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2.338,88 €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GJ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Jurídico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2.676,71 €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GM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Marketing e Vendas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5.544,00 €</a:t>
                      </a:r>
                    </a:p>
                  </a:txBody>
                  <a:tcPr anchor="ctr" marL="76200" marT="25400" marB="25400">
                    <a:solidFill>
                      <a:srgbClr val="121A2C"/>
                    </a:solidFill>
                  </a:tcPr>
                </a:tc>
              </a:tr>
              <a:tr h="388620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DD9A34"/>
                          </a:solidFill>
                          <a:latin typeface="Arial"/>
                        </a:rPr>
                        <a:t>GI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FFFFFF"/>
                          </a:solidFill>
                          <a:latin typeface="Arial"/>
                        </a:rPr>
                        <a:t>Educação Pré-Investimento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CFD8EC"/>
                          </a:solidFill>
                          <a:latin typeface="Arial"/>
                        </a:rPr>
                        <a:t>2.041,46 €</a:t>
                      </a:r>
                    </a:p>
                  </a:txBody>
                  <a:tcPr anchor="ctr" marL="76200" marT="25400" marB="25400">
                    <a:solidFill>
                      <a:srgbClr val="0B1220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572000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Arial"/>
              </a:rPr>
              <a:t>Total equipe interna equivalente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9377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 i="0">
                <a:solidFill>
                  <a:srgbClr val="DD9A34"/>
                </a:solidFill>
                <a:latin typeface="Arial"/>
              </a:rPr>
              <a:t>19.954,07 € / mês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6492240" y="1965960"/>
          <a:ext cx="5029200" cy="2880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Rounded Rectangle 9"/>
          <p:cNvSpPr/>
          <p:nvPr/>
        </p:nvSpPr>
        <p:spPr>
          <a:xfrm>
            <a:off x="6492240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56248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19.104,07 €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56248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ECONOMIA / MÊS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36992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1000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95,7%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01000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ECONOMIA 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81744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45752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≈ 5 DIAS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45752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PAYBACK SETUP*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826496" y="5074920"/>
            <a:ext cx="1325880" cy="105156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90504" y="5212080"/>
            <a:ext cx="119786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Arial"/>
              </a:rPr>
              <a:t>229.249 €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90504" y="5779008"/>
            <a:ext cx="119786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00" b="0" i="0">
                <a:solidFill>
                  <a:srgbClr val="9FB6DD"/>
                </a:solidFill>
                <a:latin typeface="Arial"/>
              </a:rPr>
              <a:t>EM 12 MESES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0" i="1">
                <a:solidFill>
                  <a:srgbClr val="8A93A8"/>
                </a:solidFill>
                <a:latin typeface="Arial"/>
              </a:rPr>
              <a:t>* Preço do OCEO em Portugal, decidido pelo Gilberto: 850 €/mês (mensalidade) + 2.950 € (setup, único). Ver próximo slide.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7C8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OCEO · Europa (Portugal)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03 · O INVESTIMENTO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Elementos pra precificar em Portugal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81328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6420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O preço final em Portugal foi decidido pelo Gilberto: setup 2.950 € (único) + mensalidade 850 €/mês. Este slide mostra o preço decidido frente ao custo de montar a equipe internamente.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86000"/>
            <a:ext cx="3429000" cy="2743200"/>
          </a:xfrm>
          <a:prstGeom prst="roundRect">
            <a:avLst>
              <a:gd name="adj" fmla="val 6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A92A6"/>
                </a:solidFill>
                <a:latin typeface="Arial"/>
              </a:rPr>
              <a:t>SETUP (ÚNICO)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7432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 i="0">
                <a:solidFill>
                  <a:srgbClr val="17335C"/>
                </a:solidFill>
                <a:latin typeface="Arial"/>
              </a:rPr>
              <a:t>2.950 €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246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5B6579"/>
                </a:solidFill>
                <a:latin typeface="Arial"/>
              </a:rPr>
              <a:t>pagamento único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6118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B6579"/>
                </a:solidFill>
                <a:latin typeface="Arial"/>
              </a:rPr>
              <a:t>Cobre onboarding, configuração inicial e integração dos 5 pilares — cobrado uma única vez na contratação, não recorrente.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51960" y="2286000"/>
            <a:ext cx="3429000" cy="2743200"/>
          </a:xfrm>
          <a:prstGeom prst="roundRect">
            <a:avLst>
              <a:gd name="adj" fmla="val 6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2487168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6FA8F0"/>
                </a:solidFill>
                <a:latin typeface="Arial"/>
              </a:rPr>
              <a:t>TETO — CUSTO DE EQUIPE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27432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DD9A34"/>
                </a:solidFill>
                <a:latin typeface="Arial"/>
              </a:rPr>
              <a:t>19.954 €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3246120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B9C4DC"/>
                </a:solidFill>
                <a:latin typeface="Arial"/>
              </a:rPr>
              <a:t>por mês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3611880"/>
            <a:ext cx="3017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CFD8EC"/>
                </a:solidFill>
                <a:latin typeface="Arial"/>
              </a:rPr>
              <a:t>Custo de montar a equipe interna equivalente em Portugal (os 5 pilares somados). Qualquer preço abaixo disso já é economia real pro cliente.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0" y="2286000"/>
            <a:ext cx="3657600" cy="2743200"/>
          </a:xfrm>
          <a:prstGeom prst="roundRect">
            <a:avLst>
              <a:gd name="adj" fmla="val 6000"/>
            </a:avLst>
          </a:prstGeom>
          <a:solidFill>
            <a:srgbClr val="FBF3E9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487168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 i="0">
                <a:solidFill>
                  <a:srgbClr val="8A5A15"/>
                </a:solidFill>
                <a:latin typeface="Arial"/>
              </a:rPr>
              <a:t>MENSALIDADE OCEO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2743200"/>
            <a:ext cx="3200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 i="0">
                <a:solidFill>
                  <a:srgbClr val="8A5A15"/>
                </a:solidFill>
                <a:latin typeface="Arial"/>
              </a:rPr>
              <a:t>850 €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92440" y="3246120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 i="0">
                <a:solidFill>
                  <a:srgbClr val="8A5A15"/>
                </a:solidFill>
                <a:latin typeface="Arial"/>
              </a:rPr>
              <a:t>por mês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92440" y="3611880"/>
            <a:ext cx="3200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050" b="0" i="0">
                <a:solidFill>
                  <a:srgbClr val="5B4A1E"/>
                </a:solidFill>
                <a:latin typeface="Arial"/>
              </a:rPr>
              <a:t>95,7% de economia frente ao custo de montar a equipe internamente (card ao lado) — margem pra cobrir a diferença de custo de vida português sem perder competitividade.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57800"/>
            <a:ext cx="10881360" cy="9601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413248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Perfil de cliente em Portugal: PME a partir de 35.000 €/mês de faturamento — faixa a validar com o mercado português (ver Mercado, próximo slide).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04 ·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Um mercado de 1,45 milhão de empresas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6304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1.452.225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PME ativas em Portugal (PORDATA/INE, 2022)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99,9%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6616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Das empresas não financeiras em Portugal são PME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508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4,7 mi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Pessoas empregadas por PME em Portugal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828800"/>
            <a:ext cx="2606040" cy="1417320"/>
          </a:xfrm>
          <a:prstGeom prst="roundRect">
            <a:avLst>
              <a:gd name="adj" fmla="val 8000"/>
            </a:avLst>
          </a:prstGeom>
          <a:solidFill>
            <a:srgbClr val="F5F7FB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0" y="1993392"/>
            <a:ext cx="2331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000" b="1" i="0">
                <a:solidFill>
                  <a:srgbClr val="17335C"/>
                </a:solidFill>
                <a:latin typeface="Arial"/>
              </a:rPr>
              <a:t>550,3 bi 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578608"/>
            <a:ext cx="23317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5B6579"/>
                </a:solidFill>
                <a:latin typeface="Arial"/>
              </a:rPr>
              <a:t>Volume de negócios das PME portuguesas (2023)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7335C"/>
                </a:solidFill>
                <a:latin typeface="Arial"/>
              </a:rPr>
              <a:t>Preço de concorrentes PME em Portugal (mensal)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640080" y="3977639"/>
          <a:ext cx="5394960" cy="23317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09360" y="3977639"/>
            <a:ext cx="521208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i="0">
                <a:solidFill>
                  <a:srgbClr val="5B6579"/>
                </a:solidFill>
                <a:latin typeface="Arial"/>
              </a:rPr>
              <a:t>Moloni 5–40 € · InvoiceXpress a partir de 8 € · Primavera Jasmin ~15 € · PHC GO/Sage 20–40 € · Primavera Premium (com contabilidade) a partir de 150 €/mês — mas cobrem faturação/contabilidade isolada, não os 5 pilares completos do OCEO (jurídico, marketing, educação de investimento).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591820"/>
            <a:ext cx="256032" cy="0"/>
          </a:xfrm>
          <a:prstGeom prst="line">
            <a:avLst/>
          </a:prstGeom>
          <a:ln w="19050">
            <a:solidFill>
              <a:srgbClr val="6FA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0292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6FA8F0"/>
                </a:solidFill>
                <a:latin typeface="Arial"/>
              </a:rPr>
              <a:t>05 · META DE MERCADO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41248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 i="0">
                <a:solidFill>
                  <a:srgbClr val="FFFFFF"/>
                </a:solidFill>
                <a:latin typeface="Arial"/>
              </a:rPr>
              <a:t>Se o OCEO capturar 0,1% desse mercado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17320"/>
            <a:ext cx="457200" cy="0"/>
          </a:xfrm>
          <a:prstGeom prst="line">
            <a:avLst/>
          </a:prstGeom>
          <a:ln w="28575">
            <a:solidFill>
              <a:srgbClr val="DD9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7830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938528"/>
            <a:ext cx="20025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DD9A34"/>
                </a:solidFill>
                <a:latin typeface="Arial"/>
              </a:rPr>
              <a:t>1.452.225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487168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9FB6DD"/>
                </a:solidFill>
                <a:latin typeface="Arial"/>
              </a:rPr>
              <a:t>PME em Portugal (TAM, PORDATA/INE)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91840" y="17830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56432" y="1938528"/>
            <a:ext cx="20025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DD9A34"/>
                </a:solidFill>
                <a:latin typeface="Arial"/>
              </a:rPr>
              <a:t>× 0,1%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487168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9FB6DD"/>
                </a:solidFill>
                <a:latin typeface="Arial"/>
              </a:rPr>
              <a:t>Meta de participação de mercado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0" y="1783080"/>
            <a:ext cx="2331720" cy="1234440"/>
          </a:xfrm>
          <a:prstGeom prst="roundRect">
            <a:avLst>
              <a:gd name="adj" fmla="val 10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08192" y="1938528"/>
            <a:ext cx="200253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 i="0">
                <a:solidFill>
                  <a:srgbClr val="DD9A34"/>
                </a:solidFill>
                <a:latin typeface="Arial"/>
              </a:rPr>
              <a:t>= 1.452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08192" y="2487168"/>
            <a:ext cx="200253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0" i="0">
                <a:solidFill>
                  <a:srgbClr val="9FB6DD"/>
                </a:solidFill>
                <a:latin typeface="Arial"/>
              </a:rPr>
              <a:t>Clientes-alvo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3246120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0" i="0">
                <a:solidFill>
                  <a:srgbClr val="CFD8EC"/>
                </a:solidFill>
                <a:latin typeface="Arial"/>
              </a:rPr>
              <a:t>1.452 clientes  ×  850 €/mês (preço decidido)  ×  12 meses de contrato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03320"/>
            <a:ext cx="6400800" cy="1737360"/>
          </a:xfrm>
          <a:prstGeom prst="roundRect">
            <a:avLst>
              <a:gd name="adj" fmla="val 8000"/>
            </a:avLst>
          </a:prstGeom>
          <a:solidFill>
            <a:srgbClr val="1C2B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886200"/>
            <a:ext cx="5852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9FB6DD"/>
                </a:solidFill>
                <a:latin typeface="Arial"/>
              </a:rPr>
              <a:t>RECEITA ANUAL PROJETADA (MENSALIDADE, PREÇO REF.)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4206240"/>
            <a:ext cx="5852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800" b="1" i="0">
                <a:solidFill>
                  <a:srgbClr val="DD9A34"/>
                </a:solidFill>
                <a:latin typeface="Arial"/>
              </a:rPr>
              <a:t>14.810.400 €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0" y="3703320"/>
            <a:ext cx="4297680" cy="1737360"/>
          </a:xfrm>
          <a:prstGeom prst="roundRect">
            <a:avLst>
              <a:gd name="adj" fmla="val 8000"/>
            </a:avLst>
          </a:prstGeom>
          <a:solidFill>
            <a:srgbClr val="121A2C"/>
          </a:solidFill>
          <a:ln w="9525">
            <a:solidFill>
              <a:srgbClr val="2230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52360" y="3886200"/>
            <a:ext cx="38404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1" i="0">
                <a:solidFill>
                  <a:srgbClr val="9FB6DD"/>
                </a:solidFill>
                <a:latin typeface="Arial"/>
              </a:rPr>
              <a:t>SETUP, SE OS 1.452 FOSSEM NOVOS NO ANO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52360" y="4224528"/>
            <a:ext cx="3840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i="0">
                <a:solidFill>
                  <a:srgbClr val="FFFFFF"/>
                </a:solidFill>
                <a:latin typeface="Arial"/>
              </a:rPr>
              <a:t>4.283.400 €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52360" y="4828032"/>
            <a:ext cx="3840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1">
                <a:solidFill>
                  <a:srgbClr val="8A93A8"/>
                </a:solidFill>
                <a:latin typeface="Arial"/>
              </a:rPr>
              <a:t>1.452 × 2.950 € (preço de setup decidido — ilustra potencial, não uma premissa de ritmo de vendas)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623560"/>
            <a:ext cx="10881360" cy="777240"/>
          </a:xfrm>
          <a:prstGeom prst="roundRect">
            <a:avLst>
              <a:gd name="adj" fmla="val 10000"/>
            </a:avLst>
          </a:prstGeom>
          <a:solidFill>
            <a:srgbClr val="2A24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779008"/>
            <a:ext cx="103327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1">
                <a:solidFill>
                  <a:srgbClr val="E8C98A"/>
                </a:solidFill>
                <a:latin typeface="Arial"/>
              </a:rPr>
              <a:t>⚠  Uma premissa em aberto: 0,1% de participação NÃO é validado por funil comercial — o preço usado (850 €/mês) já é o preço final decidido pra Portugal.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7C8A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OCEO · Europa (Portugal)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C8AA8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06 · GOVERNANÇA DO PRODUTO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O OCEO orienta, não decide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6304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40080" y="164592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5B6579"/>
                </a:solidFill>
                <a:latin typeface="Arial"/>
              </a:rPr>
              <a:t>Em todos os pilares regulados, o sistema soma-se ao profissional certificado — nunca o substitui.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352044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2651760"/>
            <a:ext cx="685800" cy="36576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517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7335C"/>
                </a:solidFill>
                <a:latin typeface="Arial"/>
              </a:rPr>
              <a:t>OCC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3063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Contas organizadas e declarações fiscais exigem Contabilista Certificado inscrito na Ordem dos Contabilistas Certificados. O gabinete externo do cliente continua assinando.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3400" y="2423160"/>
            <a:ext cx="352044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2651760"/>
            <a:ext cx="685800" cy="36576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49240" y="26517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7335C"/>
                </a:solidFill>
                <a:latin typeface="Arial"/>
              </a:rPr>
              <a:t>Ordem Advogados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200400"/>
            <a:ext cx="3063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Advocacia é atividade privativa de advogado inscrito na Ordem dos Advogados. Personalização fora do padrão é encaminhada ao advogado do cliente.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2423160"/>
            <a:ext cx="3520440" cy="31089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E3E7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75320" y="2651760"/>
            <a:ext cx="685800" cy="365760"/>
          </a:xfrm>
          <a:prstGeom prst="roundRect">
            <a:avLst>
              <a:gd name="adj" fmla="val 25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20" y="2651760"/>
            <a:ext cx="6858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52560" y="2651760"/>
            <a:ext cx="22860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 i="0">
                <a:solidFill>
                  <a:srgbClr val="17335C"/>
                </a:solidFill>
                <a:latin typeface="Arial"/>
              </a:rPr>
              <a:t>CMVM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3200400"/>
            <a:ext cx="30632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5B6579"/>
                </a:solidFill>
                <a:latin typeface="Arial"/>
              </a:rPr>
              <a:t>Recomendação individualizada por perfil é consultoria de valores mobiliários regulada pela CMVM. O pilar é educacional, não recomenda produto por NIF/NIPC.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640080" y="637540"/>
            <a:ext cx="256032" cy="0"/>
          </a:xfrm>
          <a:prstGeom prst="line">
            <a:avLst/>
          </a:prstGeom>
          <a:ln w="19050">
            <a:solidFill>
              <a:srgbClr val="8A5A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/>
          <p:cNvSpPr txBox="1"/>
          <p:nvPr/>
        </p:nvSpPr>
        <p:spPr>
          <a:xfrm>
            <a:off x="969264" y="5486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8A5A15"/>
                </a:solidFill>
                <a:latin typeface="Arial"/>
              </a:rPr>
              <a:t>07 ·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896112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 i="0">
                <a:solidFill>
                  <a:srgbClr val="10182A"/>
                </a:solidFill>
                <a:latin typeface="Arial"/>
              </a:rPr>
              <a:t>O que falta pra fechar cada pilar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640080" y="1463040"/>
            <a:ext cx="457200" cy="0"/>
          </a:xfrm>
          <a:prstGeom prst="line">
            <a:avLst/>
          </a:prstGeom>
          <a:ln w="28575">
            <a:solidFill>
              <a:srgbClr val="2A78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ounded Rectangle 5"/>
          <p:cNvSpPr/>
          <p:nvPr/>
        </p:nvSpPr>
        <p:spPr>
          <a:xfrm>
            <a:off x="640080" y="1874519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EEF3FB"/>
          </a:solidFill>
          <a:ln w="9525">
            <a:solidFill>
              <a:srgbClr val="2A78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74519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17335C"/>
                </a:solidFill>
                <a:latin typeface="Arial"/>
              </a:rPr>
              <a:t>Geral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874519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Preço final em EUR decidido: setup 2.950 € + mensalidade 850 €/mês. Falta validar esse valor contra concorrência local e poder de compra português nos primeiros meses de venda.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587751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587751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587751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Confirmar se a mesma equipe cobre Fiscal separado do Contabilista — em Portugal a OCC tende a juntar as duas funções num só profissional.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300983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3300983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00983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Validar viabilidade e custo da integração Open Banking/PSD2 com bancos portugueses.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14215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014215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GJ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014215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Definir se há advogado parceiro fixo do OCEO em Portugal para personalização/execução.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727447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727447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4727447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Confirmar tarifário EUR do WhatsApp Business API — não assumir o valor usado no Brasil.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440679"/>
            <a:ext cx="1005840" cy="566928"/>
          </a:xfrm>
          <a:prstGeom prst="roundRect">
            <a:avLst>
              <a:gd name="adj" fmla="val 30000"/>
            </a:avLst>
          </a:prstGeom>
          <a:solidFill>
            <a:srgbClr val="FCF3E3"/>
          </a:solidFill>
          <a:ln w="9525">
            <a:solidFill>
              <a:srgbClr val="DD9A3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40679"/>
            <a:ext cx="100584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8A5A15"/>
                </a:solidFill>
                <a:latin typeface="Arial"/>
              </a:rPr>
              <a:t>GI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5440679"/>
            <a:ext cx="96012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333333"/>
                </a:solidFill>
                <a:latin typeface="Arial"/>
              </a:rPr>
              <a:t>Validar com jurídico local se a rota educacional atende às regras da CMVM (podem diferir da CVM brasileira).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2920" y="6355080"/>
            <a:ext cx="11185855" cy="0"/>
          </a:xfrm>
          <a:prstGeom prst="line">
            <a:avLst/>
          </a:prstGeom>
          <a:ln w="9525">
            <a:solidFill>
              <a:srgbClr val="8A92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502920" y="641908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OCEO · Europa (Portugal)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19088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8A92A6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DD9A3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82296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0" b="1" i="0">
                <a:solidFill>
                  <a:srgbClr val="FFFFFF"/>
                </a:solidFill>
                <a:latin typeface="Arial"/>
              </a:rPr>
              <a:t>OCEO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41832" y="3429000"/>
            <a:ext cx="7772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DD9A34"/>
                </a:solidFill>
                <a:latin typeface="Arial"/>
              </a:rPr>
              <a:t>O painel de comando que toda PME devia ter — agora em Portugal.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914400" y="4160520"/>
            <a:ext cx="548640" cy="0"/>
          </a:xfrm>
          <a:prstGeom prst="line">
            <a:avLst/>
          </a:prstGeom>
          <a:ln w="28575">
            <a:solidFill>
              <a:srgbClr val="DD9A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914400" y="4343400"/>
            <a:ext cx="8686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9FB6DD"/>
                </a:solidFill>
                <a:latin typeface="Arial"/>
              </a:rPr>
              <a:t>Sistema de Gestão Empresarial — Grupo Sena</a:t>
            </a:r>
          </a:p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9FB6DD"/>
                </a:solidFill>
                <a:latin typeface="Arial"/>
              </a:rPr>
              <a:t>Gilberto Sena — CEO</a:t>
            </a:r>
          </a:p>
          <a:p>
            <a:pPr algn="l">
              <a:lnSpc>
                <a:spcPct val="170000"/>
              </a:lnSpc>
            </a:pPr>
            <a:r>
              <a:rPr sz="1200" b="0" i="0">
                <a:solidFill>
                  <a:srgbClr val="9FB6DD"/>
                </a:solidFill>
                <a:latin typeface="Arial"/>
              </a:rPr>
              <a:t>Documento de trabalho · Agosto de 2026 · Cópia PT/EUR do business plan original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