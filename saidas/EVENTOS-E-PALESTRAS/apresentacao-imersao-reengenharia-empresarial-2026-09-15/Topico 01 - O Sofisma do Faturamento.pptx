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5959368"/>
            <a:ext cx="566928" cy="514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229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 spc="300">
                <a:solidFill>
                  <a:srgbClr val="C9A227"/>
                </a:solidFill>
                <a:latin typeface="Inter"/>
              </a:rPr>
              <a:t>BLOCO 1 · 09H00 – 09H30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 spc="400">
                <a:solidFill>
                  <a:srgbClr val="8A8374"/>
                </a:solidFill>
                <a:latin typeface="Inter"/>
              </a:rPr>
              <a:t>TÓPICO 1</a:t>
            </a:r>
          </a:p>
          <a:p>
            <a:pPr algn="l">
              <a:lnSpc>
                <a:spcPct val="102000"/>
              </a:lnSpc>
              <a:spcBef>
                <a:spcPts val="1400"/>
              </a:spcBef>
            </a:pPr>
            <a:r>
              <a:rPr sz="7600" b="1" i="0">
                <a:solidFill>
                  <a:srgbClr val="F4F1EA"/>
                </a:solidFill>
                <a:latin typeface="Fraunces"/>
              </a:rPr>
              <a:t>O Sofisma do
Faturamento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257800"/>
            <a:ext cx="292608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32688" y="5285232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1">
                <a:solidFill>
                  <a:srgbClr val="8A8374"/>
                </a:solidFill>
                <a:latin typeface="Fraunces"/>
              </a:rPr>
              <a:t>A ilusão da empresa forte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5959368"/>
            <a:ext cx="566928" cy="514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7772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 spc="300">
                <a:solidFill>
                  <a:srgbClr val="C9A227"/>
                </a:solidFill>
                <a:latin typeface="Inter"/>
              </a:rPr>
              <a:t>O QUE VOCÊ PENSA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 i="1">
                <a:solidFill>
                  <a:srgbClr val="F4F1EA"/>
                </a:solidFill>
                <a:latin typeface="Fraunces"/>
              </a:rPr>
              <a:t>“Minha empresa fatura
R$ 500 mil por mês.
Então eu sei gerir —
e estou protegido.”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5959368"/>
            <a:ext cx="566928" cy="514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7772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 spc="300">
                <a:solidFill>
                  <a:srgbClr val="C9A227"/>
                </a:solidFill>
                <a:latin typeface="Inter"/>
              </a:rPr>
              <a:t>A VERDADE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6800" b="1" i="0">
                <a:solidFill>
                  <a:srgbClr val="F4F1EA"/>
                </a:solidFill>
                <a:latin typeface="Fraunces"/>
              </a:rPr>
              <a:t>Faturamento atrai
concorrente.</a:t>
            </a:r>
          </a:p>
          <a:p>
            <a:pPr algn="l">
              <a:lnSpc>
                <a:spcPct val="105000"/>
              </a:lnSpc>
              <a:spcBef>
                <a:spcPts val="2800"/>
              </a:spcBef>
            </a:pPr>
            <a:r>
              <a:rPr sz="6800" b="1" i="0">
                <a:solidFill>
                  <a:srgbClr val="C9A227"/>
                </a:solidFill>
                <a:latin typeface="Fraunces"/>
              </a:rPr>
              <a:t>Faturamento atrai
o Fisco.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5959368"/>
            <a:ext cx="566928" cy="514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00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 spc="300">
                <a:solidFill>
                  <a:srgbClr val="C9A227"/>
                </a:solidFill>
                <a:latin typeface="Inter"/>
              </a:rPr>
              <a:t>A ESCOLHA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4F1EA"/>
                </a:solidFill>
                <a:latin typeface="Fraunces"/>
              </a:rPr>
              <a:t>R$ 10 milhões faturados.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4400" b="1" i="0">
                <a:solidFill>
                  <a:srgbClr val="F4F1EA"/>
                </a:solidFill>
                <a:latin typeface="Fraunces"/>
              </a:rPr>
              <a:t>R$ 800 mil sumindo em
imposto errado e passivo.</a:t>
            </a:r>
          </a:p>
          <a:p>
            <a:pPr algn="l">
              <a:lnSpc>
                <a:spcPct val="110000"/>
              </a:lnSpc>
              <a:spcBef>
                <a:spcPts val="2600"/>
              </a:spcBef>
            </a:pPr>
            <a:r>
              <a:rPr sz="4400" b="1" i="0">
                <a:solidFill>
                  <a:srgbClr val="F4F1EA"/>
                </a:solidFill>
                <a:latin typeface="Fraunces"/>
              </a:rPr>
              <a:t>Ou uma estrutura enxuta e blindada.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 spc="150">
                <a:solidFill>
                  <a:srgbClr val="C9A227"/>
                </a:solidFill>
                <a:latin typeface="Inter"/>
              </a:rPr>
              <a:t>VOCÊ ESCOLHE.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5959368"/>
            <a:ext cx="566928" cy="514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7772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 spc="300">
                <a:solidFill>
                  <a:srgbClr val="C9A227"/>
                </a:solidFill>
                <a:latin typeface="Inter"/>
              </a:rPr>
              <a:t>PRA LEMBRAR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400" b="1" i="0">
                <a:solidFill>
                  <a:srgbClr val="F4F1EA"/>
                </a:solidFill>
                <a:latin typeface="Fraunces"/>
              </a:rPr>
              <a:t>Faturamento sem
Reengenharia é
apenas um
risco maior.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5989320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