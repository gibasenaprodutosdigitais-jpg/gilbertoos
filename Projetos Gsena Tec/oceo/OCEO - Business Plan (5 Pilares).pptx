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30834.39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8789.9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16122.33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26037.05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9604.31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interna (5 pilares)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91387.98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Faixa média R$/mês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8A92A6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Bling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525</c:v>
                </c:pt>
                <c:pt idx="1">
                  <c:v>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A8F0"/>
                </a:solidFill>
                <a:latin typeface="Arial"/>
              </a:rPr>
              <a:t>BUSINESS PLAN · OS 5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2860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DD9A34"/>
                </a:solidFill>
                <a:latin typeface="Arial"/>
              </a:rPr>
              <a:t>Sistema de Gestão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Contabilidade, financeiro, jurídico, marketing e educação de investimento —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um único painel, por uma fração do custo de montar essa equipe por dentro.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5074920"/>
            <a:ext cx="64008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2578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Grupo Sena — Soluções Empresariais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Documento de trabalho ·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NOTA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Como ler este documento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Separar fato de premissa, sempre — mesma disciplina em todos os pilares.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A78D6"/>
                </a:solidFill>
                <a:latin typeface="Arial"/>
              </a:rPr>
              <a:t>FONTE 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Salários vêm de CAGED via salario.com.br, últimos 12 meses, com fonte e amostra citadas em cada pilar.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C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B6834"/>
                </a:solidFill>
                <a:latin typeface="Arial"/>
              </a:rPr>
              <a:t>FATO DO 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Preço do OCEO (setup R$ 12.500 + mensalidade R$ 3.500) e escopo de cada pilar vêm direto do briefing do Grupo Sena.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A34A"/>
                </a:solidFill>
                <a:latin typeface="Arial"/>
              </a:rPr>
              <a:t>PREMISSA / A 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Perfis sem CBO exato (Analista de DP, SDR) — marcados como estimativa, não fato fechado.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Sobre o preço — R$ 3.500/mês, simples, mas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B6579"/>
                </a:solidFill>
                <a:latin typeface="Arial"/>
              </a:rPr>
              <a:t>Cobre os 5 pilares (GC, GF, GJ, GM, GI). Mensalidade fixa + repasse de custo variável já identificado (ex.: conversas WhatsApp Business API acima da franquia grátis, Pilar GM).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01 ·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PMEs brasileiras gerem no escuro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579"/>
                </a:solidFill>
                <a:latin typeface="Arial"/>
              </a:rPr>
              <a:t>O pequeno e médio empresário fatura, mas frequentemente não sabe se está lucrando de verdade — porque a gestão da empresa mora em planilhas soltas, grupos de WhatsApp e na memória do dono.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257800" cy="3383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335C"/>
                </a:solidFill>
                <a:latin typeface="Arial"/>
              </a:rPr>
              <a:t>Sintomas recorrentes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Mistura entre finanças pessoais (PF) e da empresa (PJ)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Ausência de ponto de equilíbrio calculado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Decisão comercial sem dado de margem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Contrato assinado sem revisão jurídica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RH sem processo de contratação estruturado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Nenhum painel único que junte tudo isso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394960" cy="338328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D9A34"/>
                </a:solidFill>
                <a:latin typeface="Arial"/>
              </a:rPr>
              <a:t>A causa raiz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Contratar uma estrutura completa — contador, financeiro, jurídico, marketing, RH — custa caro demais pra maioria das PMEs. Então a gestão vira improviso.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Sistemas genéricos de mercado cobrem só um pedaço do problema (financeiro OU vendas), forçando o empresário a integrar vários sistemas por conta própria.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02 ·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Cinco pilares. Uma mensalidade.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7160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361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PME não contrata diretoria completa. O OCEO junta as cinco funções num painel só — nenhum pilar é vendido avulso.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Contabilidade &amp; RH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Contábil, Fiscal, DP, RH e Legalização internos.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88,6%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59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44951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1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1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Gestão Financeira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1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DRE, caixa, EBITDA, ROI e fundo de reserva.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44951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4951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60,2%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1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38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85230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0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0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Jurídico Consultivo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0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Contratos, análise de risco, oportunidade legal.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85230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85230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78,3%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0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17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25509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09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09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Marketing &amp; Vendas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09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Agência e comercial rodando todo dia.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25509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25509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86,6%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09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196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65788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88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88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88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Prepara o empresário, não recomenda produto.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65788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65788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63,6%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88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1 · CONTABILIDADE /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Contabilidade &amp; RH internos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Escritório de contabilidade interno para gestão — Contábil, Fiscal, DP, RH e Legalização por dentro de casa. O contador externo continua existindo, para a obrigação legal assinada — o dado interno vira poder de negociar com 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Contábil — apuração, conciliação, balancete, DRE, custos/despesas/entradas/retiradas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Fiscal — impostos, guias, linkado à Receita Federal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DP — folha de pagamento, admissão/demissão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RH — atração, seleção, entrevista virtual por IA, análise comportamental, apoio em negociação salarial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Legalização — registros e certidões municipal, estadual e federal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Ponto de atenção: demonstração contábil formal exige contador com registro no CRC — o escritório externo do cliente não é substituído.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(4 perfis)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R$ 27.334,39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88,6%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01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2 · ERP FINANCEIRO + BANCO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Gestão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Integra dado bancário (Open Finance) ao que o Pilar GC já apurou. Traduz DRE, caixa livre, EBITDA, ROI e valuation em linguagem simples, com política de fundo de reserva automática.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Integração bancária — leitura de entradas e saídas em tempo real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DRE explicado: caixa livre, caixa circulante, margem de contribuição, EBITDA, ROI, valuation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Transparência PF x PJ — impacto real do gasto pessoal no caixa livre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Fundo de reserva automático: 3 meses de ponto de equilíbrio (padrão fixo)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Comparado a um Diretor Financeiro (R$ 43.391,77/mês), a economia sobe para 91,9% — o pilar entrega leitura de nível diretoria.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Financeiro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R$ 5.289,90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60,2%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02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3 · ADVOGADO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Jurídico Consultivo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PME pequena/média não tem e não contrata advogado. O OCEO entra como advogado consultivo full-time, sem substituir advogado com OAB para executar.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Contratos padrão/modelo — mesmo critério usado por IA jurídica de mercado (ex.: JusIA)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Análise de contrato: aponta incoerência e risco (compra, sociedade, venda)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Busca de oportunidade legal de redução de custo tributário/financeiro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Esclarecimento jurídico simples, disponível full-time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Advocacia é atividade privativa de advogado com OAB (Lei 8.906/1994) — personalização fora do padrão é encaminhada ao advogado de confiança do cliente.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Advogado Empresarial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R$ 12.622,33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78,3%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03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4 · AGÊNCIA + COMERCIAL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Marketing &amp; 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Social media, tráfego pago e atendimento comercial via IA — como se a empresa tivesse uma agência completa por dentro, cobrindo o negócio e o próprio empresário.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Social media: copy, carrossel, imagem, publicação manual e programada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Tráfego pago junto às plataformas (verba de mídia é orçamento à parte do cliente)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Atendimento via agente de IA: funil até o fechamento, mesmo em operação física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Campanha específica → assessoria externa; dia a dia e lead orgânico → o pilar cobre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WhatsApp Business API cobra por conversa (~R$ 0,15/conversa de utilidade, 1.000 grátis/mês) — custo variável a considerar na margem do OCEO.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(3 perfis)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R$ 22.537,05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86,6%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04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5 · MERCADO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Só entra em ação depois que o fundo de reserva do Pilar GF está completo. Rota educacional/genérica — não individualiza recomendação por CNPJ/CPF, não vincula corretora como parceira.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Conteúdo educacional por categoria de perfil (conservador, moderado, arrojado)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Panorama de renda fixa/variável, debêntures e criptoativos — sem recomendação individualizada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Fibonacci e outras ferramentas técnicas, sobre dado de mercado público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Disclaimer em toda saída: conteúdo educacional, não recomendação de investimento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CVM (Resolução 19/2021) trata recomendação individualizada por sistema automatizado como consultoria de valores mobiliários regulada.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de Fundos de Investimento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R$ 6.104,31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63,6%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05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6FA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O PLACAR · SOMA DOS 5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O que a PME pagaria pra montar tudo isso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C"/>
                </a:solidFill>
                <a:latin typeface="Arial"/>
              </a:rPr>
              <a:t>Somando o custo de contratar cada função separadamente — leitura conservadora (Analista Financeiro no Pilar GF, não Diretor).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880360"/>
                <a:gridCol w="1920240"/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Custo mensal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GC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Contabilidade/BI + RH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R$ 30.834,39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GF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Gestão Financeira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R$ 8.789,90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GJ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Jurídico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R$ 16.122,33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GM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Marketing e Vendas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R$ 26.037,05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GI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Educação Pré-Investimento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R$ 9.604,31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Total equipe interna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D9A34"/>
                </a:solidFill>
                <a:latin typeface="Arial"/>
              </a:rPr>
              <a:t>R$ 91.387,98 / mês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965960"/>
          <a:ext cx="502920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R$ 87.887,98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/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96,2%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1744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≈ 4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PAYBACK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6496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0504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R$ 1,05M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EM 12 MESES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7C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03 · O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Simples de decidir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2A6"/>
                </a:solidFill>
                <a:latin typeface="Arial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7335C"/>
                </a:solidFill>
                <a:latin typeface="Arial"/>
              </a:rPr>
              <a:t>R$ 12.500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único, na implantação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520440"/>
            <a:ext cx="470916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657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Implantação e configuração dos 5 pilares (GC, GF, GJ, GM, GI) na operação do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MENSALIDADE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9A34"/>
                </a:solidFill>
                <a:latin typeface="Arial"/>
              </a:rPr>
              <a:t>R$ 3.500 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992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C"/>
                </a:solidFill>
                <a:latin typeface="Arial"/>
              </a:rPr>
              <a:t>simples, mas completo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3520440"/>
            <a:ext cx="4709160" cy="0"/>
          </a:xfrm>
          <a:prstGeom prst="line">
            <a:avLst/>
          </a:prstGeom>
          <a:ln w="9525">
            <a:solidFill>
              <a:srgbClr val="22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36576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FD8EC"/>
                </a:solidFill>
                <a:latin typeface="Arial"/>
              </a:rPr>
              <a:t>Fixo + repasse de custo variável identificado (ex.: WhatsApp Business API acima da franquia grátis, Pilar GM).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5A15"/>
                </a:solidFill>
                <a:latin typeface="Arial"/>
              </a:rPr>
              <a:t>Pensado pra PME com faturamento acima de R$ 50.000/mês — a faixa que já sente falta de gestão de verdade, mas ainda não tem caixa pra montar diretoria própria.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04 ·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Um mercado de 24 milhões de empresas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24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Pequenos negócios ativos no Brasil (SEBRAE,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De todas as empresas do país são PME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US$ 71,6–92,6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Mercado global de ERP 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9–13%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CAGR do mercado de ERP até 2031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Preço de concorrentes PME (mensal)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" y="3977639"/>
          <a:ext cx="5394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09360" y="3977639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Bling R$ 250–800 · Conta Azul R$ 220–650 · Omie R$ 450–1.800 por mês — mas cobrem só financeiro/vendas, não os 5 pilares completos do OCEO.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Totvs, SAP e Oracle dominam 77% do mercado nacional de ERP — focados em grande empresa, fora do alcance de preço da PME.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6FA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05 · META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Se o OCEO capturar 0,1% desse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45720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24.000.000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PMEs no Brasil (TAM, SEBRAE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× 0,1%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Meta de participação de mercado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7830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938528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D9A34"/>
                </a:solidFill>
                <a:latin typeface="Arial"/>
              </a:rPr>
              <a:t>= 24.000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48716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FB6DD"/>
                </a:solidFill>
                <a:latin typeface="Arial"/>
              </a:rPr>
              <a:t>Clientes-alvo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FD8EC"/>
                </a:solidFill>
                <a:latin typeface="Arial"/>
              </a:rPr>
              <a:t>24.000 clientes  ×  R$ 3.500/mês  ×  12 meses de contrato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6400800" cy="1737360"/>
          </a:xfrm>
          <a:prstGeom prst="roundRect">
            <a:avLst>
              <a:gd name="adj" fmla="val 8000"/>
            </a:avLst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FB6DD"/>
                </a:solidFill>
                <a:latin typeface="Arial"/>
              </a:rPr>
              <a:t>RECEITA ANUAL PROJETADA (MENSALIDADE)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D9A34"/>
                </a:solidFill>
                <a:latin typeface="Arial"/>
              </a:rPr>
              <a:t>R$ 1.008.000.000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703320"/>
            <a:ext cx="4297680" cy="1737360"/>
          </a:xfrm>
          <a:prstGeom prst="roundRect">
            <a:avLst>
              <a:gd name="adj" fmla="val 8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88620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FB6DD"/>
                </a:solidFill>
                <a:latin typeface="Arial"/>
              </a:rPr>
              <a:t>SETUP, SE OS 24.000 FOSSEM NOVOS NO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22452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R$ 300.000.000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82803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8A93A8"/>
                </a:solidFill>
                <a:latin typeface="Arial"/>
              </a:rPr>
              <a:t>24.000 × R$ 12.500 (hipotético — ilustra o teto, não uma premissa de ritmo de vendas)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79008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8C98A"/>
                </a:solidFill>
                <a:latin typeface="Arial"/>
              </a:rPr>
              <a:t>⚠  Meta, não fato — 0,1% de participação é alvo do Grupo Sena, não projeção validada por funil comercial real. Mesma disciplina do Anexo de Premissas do business plan geral.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7C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OCEO · Os 5 Pilares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06 · GOVERNANÇA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OCEO orienta, não decide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Em todos os pilares regulados, o sistema soma-se ao profissional certificado — nunca o substitui.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CRC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Demonstração contábil formal exige contador registrado no CRC. O escritório externo do cliente continua assinando.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OAB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Advocacia é atividade privativa de advogado inscrito na OAB. Personalização fora do padrão é encaminhada ao advogado do cliente.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CVM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Recomendação individualizada por perfil é consultoria de valores mobiliários regulada. O pilar é educacional, não recomenda produto por CNPJ.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07 ·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que falta pra fechar cada pilar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74519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salário de Analista de DP com fonte melhor (hoje é estimativa de portal, não CAGED).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87751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1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87751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viabilidade e custo da integração Open Finance.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3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3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00983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Definir se há advogado parceiro fixo do OCEO para personalização/execução.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14215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5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14215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Modelar o custo variável do WhatsApp Business API na margem do OCEO.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27447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27447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Redigir e validar com jurídico o texto padrão de disclaimer educacional.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4290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9A34"/>
                </a:solidFill>
                <a:latin typeface="Arial"/>
              </a:rPr>
              <a:t>O painel de comando que toda PME devia 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160520"/>
            <a:ext cx="54864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3434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Sistema de Gestão Empresarial — Grupo Sena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Documento de trabalho · Agosto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