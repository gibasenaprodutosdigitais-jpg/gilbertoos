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C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607" y="566928"/>
            <a:ext cx="3840480" cy="30984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224528"/>
            <a:ext cx="94183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 spc="300">
                <a:solidFill>
                  <a:srgbClr val="C9A227"/>
                </a:solidFill>
                <a:latin typeface="Calibri"/>
              </a:rPr>
              <a:t>REGISTRO DE OBRA LITERÁRIA</a:t>
            </a:r>
          </a:p>
          <a:p>
            <a:pPr algn="ctr">
              <a:spcBef>
                <a:spcPts val="800"/>
              </a:spcBef>
            </a:pPr>
            <a:r>
              <a:rPr sz="4000" b="1" i="0">
                <a:solidFill>
                  <a:srgbClr val="FFFFFF"/>
                </a:solidFill>
                <a:latin typeface="Georgia"/>
              </a:rPr>
              <a:t>A Obra Completa</a:t>
            </a:r>
          </a:p>
          <a:p>
            <a:pPr algn="ctr">
              <a:spcBef>
                <a:spcPts val="1000"/>
              </a:spcBef>
            </a:pPr>
            <a:r>
              <a:rPr sz="1600" b="0" i="0">
                <a:solidFill>
                  <a:srgbClr val="C9C4B8"/>
                </a:solidFill>
                <a:latin typeface="Calibri"/>
              </a:rPr>
              <a:t>Concepção, arquitetura e especificação dos cinco pilares</a:t>
            </a:r>
          </a:p>
          <a:p>
            <a:pPr algn="ctr">
              <a:spcBef>
                <a:spcPts val="1400"/>
              </a:spcBef>
            </a:pPr>
            <a:r>
              <a:rPr sz="1200" b="0" i="0">
                <a:solidFill>
                  <a:srgbClr val="8A8374"/>
                </a:solidFill>
                <a:latin typeface="Calibri"/>
              </a:rPr>
              <a:t>Gilberto Luís de Sena  ·  Grupo Sena  ·  www.oceo.com.br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8" presetID="23" presetClass="entr" presetSubtype="16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6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6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A OBRA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Sobre esta apresentação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Reúne, num só corpo, todo o processo de concepção do OCEO — Sistema de Gestão Empresarial.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Peça de referência para registro de direito autoral e documento-mestre do produto.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Origem, princípios, arquitetura dos 5 pilares, cada módulo em detalhe, comparativos de custo e leitura de mercado.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Nasce de mais de 12 anos de consultoria do Grupo Sena — não de uma tese abstrata.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Disciplina: onde há projeção, o texto marca que é premissa a validar — não fato.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1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O que é o OCEO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Um ERP para PME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contábil, fiscal, financeiro, folha e obrigações num fluxo único.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Uma camada de BI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balancete, extrato e nota viram painéis que o dono entende.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Um consultor multidisciplinar de plantão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ancorado no dado da própria empresa.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Um substituto econômico de estrutura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no lugar de cinco áreas contratadas, uma mensalidade.</a:t>
            </a:r>
          </a:p>
          <a:p>
            <a:pPr>
              <a:spcBef>
                <a:spcPts val="1000"/>
              </a:spcBef>
            </a:pPr>
            <a:r>
              <a:rPr sz="1800" b="0" i="1">
                <a:solidFill>
                  <a:srgbClr val="151515"/>
                </a:solidFill>
                <a:latin typeface="Georgia"/>
              </a:rPr>
              <a:t>“O sistema orienta. Você decide.”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1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O que o OCEO não é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Não é um assistente genérico de IA — opera sobre o dado real, dentro de regras de especialistas.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Não é um robô que decide — investir, contratar, demitir, assinar e distribuir lucro é sempre do dono.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Não dispensa profissionais regulados — o contador com CRC e o advogado com OAB seguem no circuito.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Não é um ERP de indústria pesada — o alvo é a empresa enxuta a partir de R$ 50 mil/mês.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2</a:t>
            </a:r>
          </a:p>
          <a:p>
            <a:pPr>
              <a:spcAft>
                <a:spcPts val="600"/>
              </a:spcAft>
            </a:pPr>
            <a:r>
              <a:rPr sz="2800" b="1" i="0">
                <a:solidFill>
                  <a:srgbClr val="151515"/>
                </a:solidFill>
                <a:latin typeface="Georgia"/>
              </a:rPr>
              <a:t>A origem — 12 anos antes da primeira linha de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Mais de 12 anos de consultoria a PMEs: contábil, fiscal, jurídico, trabalhista e de negócios.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Padrão em quase todo cliente que quebrou: não faltava faturamento, faltava leitura.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O Grupo Sena resolvia caso a caso, com gente — funcionava, mas não escalava e custava caro.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Três ativos já prontos: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método consolidado · prova de conceito em produção · profissionais regulados.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O OCEO é a industrialização de uma consultoria que já funcionava.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000" b="0" i="1">
                <a:solidFill>
                  <a:srgbClr val="151515"/>
                </a:solidFill>
                <a:latin typeface="Georgia"/>
              </a:rPr>
              <a:t>“A pequena empresa administra no escuro.”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≈ 21,7 milhões de micro e pequenas empresas no Brasil — ≈ 30% do PIB (SEBRAE).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≈ 29% fecham antes de 5 anos — causa principal: gestão financeira e falta de planejamento.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O dono olha o saldo do banco, não o resultado. Confunde faturamento com lucro.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Os cinco pontos cegos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1 · Não sabe se sobra dinheiro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sem um DRE que entenda, a resposta é sensação, não número.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2 · É surpreendido pelo imposto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guia que vence sem provisão, regime errado por anos.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3 · Assina o que não leu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contrato sem ninguém revisar reajuste, multa, rescisão.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4 · Contrata marketing sem controle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agência que não presta conta, retorno não medido.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5 · Não planeja o passo seguinte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caixa parado perdendo para a inflação ou gasto por impulso.</a:t>
            </a:r>
          </a:p>
          <a:p>
            <a:pPr>
              <a:spcBef>
                <a:spcPts val="800"/>
              </a:spcBef>
            </a:pPr>
            <a:r>
              <a:rPr sz="1500" b="1" i="0">
                <a:solidFill>
                  <a:srgbClr val="C9A227"/>
                </a:solidFill>
                <a:latin typeface="Calibri"/>
              </a:rPr>
              <a:t>Cada ponto cego = um pilar do OCEO.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4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A tese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400"/>
              </a:spcAft>
            </a:pPr>
            <a:r>
              <a:rPr sz="2600" b="1" i="0">
                <a:solidFill>
                  <a:srgbClr val="151515"/>
                </a:solidFill>
                <a:latin typeface="Georgia"/>
              </a:rPr>
              <a:t>Um sistema. Cinco frentes. Uma mensalidade.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O mesmo dado nas cinco frentes — o balancete que alimenta o painel também alimenta finanças e jurídico.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Uma mensalidade, não cinco contratos. Uma língua — a do dono. Um responsável — o Grupo Sena.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Ciclo completo: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medir · entender e decidir · proteger · crescer · fazer o excedente trabalhar.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Modelo: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tecnologia faz o volume, o humano especialista faz o julgamento e a assinatura (“Services-as-Software”).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5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Os cinco princípios fundadores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1 · O sistema orienta, não decide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toda saída é consultiva; a ação é do empresário.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2 · Separar fato de premissa, sempre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fonte pública/dado real x projeção, sempre rotulados.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3 · A voz é do dono, não do técnico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balancete, DRE e cláusula traduzidos.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4 · Anti-genérico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dado da empresa + regras de quem tem 12 anos de estrada.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5 · Respeitar a fronteira regulatória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CRC, OAB, CVM, verba de mídia: sempre do lado de dentro.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7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Os cinco pilares e seus códigos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74519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2194560"/>
          <a:ext cx="104241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834640"/>
                <a:gridCol w="2468880"/>
                <a:gridCol w="4023360"/>
              </a:tblGrid>
              <a:tr h="5638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515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marL="109728" marR="91440" marT="45720" marB="45720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515"/>
                          </a:solidFill>
                          <a:latin typeface="Calibri"/>
                        </a:rPr>
                        <a:t>Pilar</a:t>
                      </a:r>
                    </a:p>
                  </a:txBody>
                  <a:tcPr marL="109728" marR="91440" marT="45720" marB="45720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515"/>
                          </a:solidFill>
                          <a:latin typeface="Calibri"/>
                        </a:rPr>
                        <a:t>Função no ciclo</a:t>
                      </a:r>
                    </a:p>
                  </a:txBody>
                  <a:tcPr marL="109728" marR="91440" marT="45720" marB="45720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51515"/>
                          </a:solidFill>
                          <a:latin typeface="Calibri"/>
                        </a:rPr>
                        <a:t>Substitui</a:t>
                      </a:r>
                    </a:p>
                  </a:txBody>
                  <a:tcPr marL="109728" marR="91440" marT="45720" marB="45720" anchor="ctr">
                    <a:solidFill>
                      <a:srgbClr val="EFE9D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GC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Contabilidade e BI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Medir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Escritório contábil interno + fiscal, DP, RH + BI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GF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Gestão Financeira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Entender e decidir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Analista / diretor financeiro; controladoria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GJ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Jurídico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Proteger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Advogado empresarial consultivo interno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GM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Marketing e Vendas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Crescer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Agência de marketing + comercial interno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GI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Educação Pré-Investimento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Fazer o excedente trabalhar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33352F"/>
                          </a:solidFill>
                          <a:latin typeface="Calibri"/>
                        </a:rPr>
                        <a:t>Analista de investimentos / educação</a:t>
                      </a:r>
                    </a:p>
                  </a:txBody>
                  <a:tcPr marL="109728" marR="91440" marT="45720" marB="45720" anchor="ctr">
                    <a:solidFill>
                      <a:srgbClr val="F4F1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8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O ciclo de dado único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Entrada (GC)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 nota é capturada, classificada e escriturada; vira balancete e base fiscal.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Leitura financeira (GF)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o mesmo lançamento entra no fluxo de caixa e ajusta o DRE do mês.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Radar jurídico (GJ)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o padrão de notas x contrato aponta divergência de preço e oportunidade tributária.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Contexto de marketing (GM)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vendas por produto e canal informam onde a mídia converte.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Gatilho de excedente (GI)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quando o resultado ultrapassa a reserva-alvo, o Pilar 5 é liberado.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C9A227"/>
                </a:solidFill>
                <a:latin typeface="Calibri"/>
              </a:rPr>
              <a:t>A integração é do sistema — o dado nasce uma vez e chega pronto a cada frente.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9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Ativação em cadeia — a ordem importa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1º · GC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imediato. É a fundação: sem dado organizado, nada funciona.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2º · GF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após o primeiro ciclo mensal fechado e a integração bancária ligada.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3º · GJ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em paralelo ao GF, depois de carregar os contratos-chave.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4º · GM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quando o cliente decide investir em crescimento (verba de mídia à parte).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5º · GI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só com o fundo de reserva completo e caixa livre com margem. Nunca antes.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10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Tecnologia + humano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A tecnologia elimina o trabalho repetitivo: coletar, classificar, formatar, cruzar, redigir a 1ª versão.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O humano mantém o julgamento e a responsabilidade.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GC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contadores com CRC · GF  controller · GJ  advogado com OAB · GM  time de conteúdo/tráfego · GI  trilha educacional.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É essa divisão que permite entregar resultado de consultoria a preço de assinatura.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11</a:t>
            </a:r>
          </a:p>
          <a:p>
            <a:pPr>
              <a:spcAft>
                <a:spcPts val="600"/>
              </a:spcAft>
            </a:pPr>
            <a:r>
              <a:rPr sz="3200" b="1" i="0">
                <a:solidFill>
                  <a:srgbClr val="151515"/>
                </a:solidFill>
                <a:latin typeface="Georgia"/>
              </a:rPr>
              <a:t>Precificação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000" b="1" i="0">
                <a:solidFill>
                  <a:srgbClr val="151515"/>
                </a:solidFill>
                <a:latin typeface="Georgia"/>
              </a:rPr>
              <a:t>Setup R$ 12.500 (único)   +   Mensalidade R$ 3.500/mês (fixa)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Inclui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os 5 pilares, a camada de BI, o consultor do sistema, a manutenção por especialistas, a coordenação do todo.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Fora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honorário do contador externo (varia por regime), verba de mídia, WhatsApp acima da franquia, ato privativo de advogado.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Portugal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setup 2.950 € + 850 €/mês, comparativo no modelo local (14 meses + TSU 23,75%).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 spc="300">
                <a:solidFill>
                  <a:srgbClr val="C9A227"/>
                </a:solidFill>
                <a:latin typeface="Calibri"/>
              </a:rPr>
              <a:t>Parte III  ·  Código GC</a:t>
            </a:r>
          </a:p>
          <a:p>
            <a:pPr>
              <a:spcBef>
                <a:spcPts val="600"/>
              </a:spcBef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Contabilidade e Business Intelligence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600" b="0" i="0">
                <a:solidFill>
                  <a:srgbClr val="C9C4B8"/>
                </a:solidFill>
                <a:latin typeface="Calibri"/>
              </a:rPr>
              <a:t>O pilar-fundação. Organiza contábil, fiscal, folha, obrigações e legalização — e transforma o dado em painéis. Único com prova de conceito em produção.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13–18  ·  PILAR 1 · GC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Os cinco setores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3 camadas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escritório contábil interno · contador externo permanece (CRC) · o dado interno é poder de barganha.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Contábil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captura e classificação, conciliação, balancete gerencial contínuo, NF em lote, receita contábil x financeira.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RH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descrição de vaga, triagem, roteiro de entrevista e análise comportamental, comparativo de candidatos.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DP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admissão, folha, encargos, férias, 13º, rescisão, eSocial/DCTFWeb com prazo no radar.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Fiscal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apuração do regime, guias e calendário, SPED/Reinf/DCTF, revisão de enquadramento, radar IBS/CBS.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Legalização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abertura, alterações, licenças e alvarás, certidões negativas, enquadramento de porte, baixa.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19  ·  PILAR 1 · GC</a:t>
            </a:r>
          </a:p>
          <a:p>
            <a:pPr>
              <a:spcAft>
                <a:spcPts val="600"/>
              </a:spcAft>
            </a:pPr>
            <a:r>
              <a:rPr sz="2700" b="1" i="0">
                <a:solidFill>
                  <a:srgbClr val="151515"/>
                </a:solidFill>
                <a:latin typeface="Georgia"/>
              </a:rPr>
              <a:t>A prova de conceito — 9 painéis em produção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Já opera para um cliente real do Grupo Sena — rede com holding e ≈ 24 unidades.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Volume de Compras · Pagamento a Fornecedores (balancete e financeiro) · Receita Contabilizada.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Contabilização de NFs · DRE Financeiro · Sobra de Caixa por Unidade.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Distribuição de Lucros por Unidade · Volume de Compras por Fornecedor (NF-e).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Painéis 1–6 comprovam a camada Contábil; painel 6 conecta ao Pilar 2; painel 8, ao Pilar 5.</a:t>
            </a:r>
          </a:p>
          <a:p>
            <a:pPr>
              <a:spcBef>
                <a:spcPts val="600"/>
              </a:spcBef>
            </a:pPr>
            <a:r>
              <a:rPr sz="1400" b="1" i="0">
                <a:solidFill>
                  <a:srgbClr val="C9A227"/>
                </a:solidFill>
                <a:latin typeface="Calibri"/>
              </a:rPr>
              <a:t>Não é promessa de dashboard — é o dashboard rodando há meses.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8869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20  ·  PILAR 1 · GC</a:t>
            </a:r>
          </a:p>
          <a:p>
            <a:pPr>
              <a:spcAft>
                <a:spcPts val="600"/>
              </a:spcAft>
            </a:pPr>
            <a:r>
              <a:rPr sz="2800" b="1" i="0">
                <a:solidFill>
                  <a:srgbClr val="151515"/>
                </a:solidFill>
                <a:latin typeface="Georgia"/>
              </a:rPr>
              <a:t>Comparativo de custo do Pilar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64208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847088"/>
          <a:ext cx="1042416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0880"/>
                <a:gridCol w="3383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Cargo interno equivalente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Custo total /mês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Analista Contábil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R$ 9.871,16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Analista Fiscal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R$ 8.714,75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Analista de Departamento Pessoal (premissa)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R$ 5.940,00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Agente de Recrutamento e Seleção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R$ 6.308,48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Total da equipe interna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R$ 30.834,39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Economia mensal vs OCEO (mensalidade única)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R$ 27.334,39  (88,6%)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Payback do setup só com o Pilar 1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≈ 14 dias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797296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Salários: piso de referência CAGED; encargos ≈ 80%. Premissa: 1 pessoa por cargo.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A mensalidade de R$ 3.500 cobre os 5 pilares — atribuí-la só ao Pilar 1 é conservador contra o OCEO.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21  ·  PILAR 1 · GC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O Pilar 1 no mercado SaaS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Quem já está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Conta Azul, Omie, Bling, Tiny e os sistemas dos próprios escritórios (Domínio, Fortes, Alterdata).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1 · Leitura para o dono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os concorrentes entregam a máquina de apurar; o OCEO nasce da tradução.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2 · Contabilidade é camada, não o produto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vem integrada a finanças, jurídico, marketing e planejamento.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3 · Serviço embutido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não só a licença: a operação e o julgamento humano do Grupo Sena.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4 · Prova real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9 painéis rodando há meses sobre operação com holding e 24 unidades.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 spc="300">
                <a:solidFill>
                  <a:srgbClr val="C9A227"/>
                </a:solidFill>
                <a:latin typeface="Calibri"/>
              </a:rPr>
              <a:t>Parte IV  ·  Código GF</a:t>
            </a:r>
          </a:p>
          <a:p>
            <a:pPr>
              <a:spcBef>
                <a:spcPts val="600"/>
              </a:spcBef>
            </a:pPr>
            <a:r>
              <a:rPr sz="4400" b="1" i="0">
                <a:solidFill>
                  <a:srgbClr val="FFFFFF"/>
                </a:solidFill>
                <a:latin typeface="Georgia"/>
              </a:rPr>
              <a:t>Gestão Financeira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600" b="0" i="0">
                <a:solidFill>
                  <a:srgbClr val="C9C4B8"/>
                </a:solidFill>
                <a:latin typeface="Calibri"/>
              </a:rPr>
              <a:t>O pilar da decisão do dia a dia. Do dado do Pilar 1 + extrato bancário para leitura de caixa, DRE explicado, alertas, PF × PJ e o fundo de reserva.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22–25  ·  PILAR 2 · GF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Leitura, decisão e planejamento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Integração bancária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Open Finance, consolidação multibanco, saldo real x projetado, conciliação com o contábil.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Balanço e balancete traduzidos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o que a empresa tem, o que deve, o que sobra se liquidasse hoje.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DRE explicado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caixa livre, caixa circulante, margem de contribuição, EBITDA, ROI, valuation de referência.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Cada linha traz o porquê importa: “vendeu mais e financiou o cliente com o seu dinheiro”.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26  ·  PILAR 2 · GF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Alertas, PF × PJ e reserva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Alertas de consequência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“se nada mudar, dia 20 falta caixa para a folha”, não só o fato.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PF × PJ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centro de custos que mostra, sem julgamento, quanto saiu da empresa para a vida pessoal do sócio.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Fundo de reserva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alvo padrão: 3 meses de ponto de equilíbrio; recalculado com o custo fixo.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Só quando a reserva está completa o Pilar 5 é liberado.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8869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27  ·  PILAR 2 · GF</a:t>
            </a:r>
          </a:p>
          <a:p>
            <a:pPr>
              <a:spcAft>
                <a:spcPts val="600"/>
              </a:spcAft>
            </a:pPr>
            <a:r>
              <a:rPr sz="2800" b="1" i="0">
                <a:solidFill>
                  <a:srgbClr val="151515"/>
                </a:solidFill>
                <a:latin typeface="Georgia"/>
              </a:rPr>
              <a:t>Comparativo de custo do Pilar 2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64208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847088"/>
          <a:ext cx="10424160" cy="1901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0880"/>
                <a:gridCol w="3383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Cargo interno equivalente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Custo total /mês  ·  Economia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Analista Financeiro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R$ 8.789,90   ·   60,2%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Diretor Financeiro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R$ 43.391,77   ·   91,9%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Leitura conservadora usada no comparativo central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Analista Financeiro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3895344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Poucas PMEs contratam diretor financeiro dedicado — entra como referência do valor da entrega.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Mesmo trocando só a execução de nível analista, a economia já é de 60,2%.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 spc="300">
                <a:solidFill>
                  <a:srgbClr val="C9A227"/>
                </a:solidFill>
                <a:latin typeface="Calibri"/>
              </a:rPr>
              <a:t>Parte V  ·  Código GJ</a:t>
            </a:r>
          </a:p>
          <a:p>
            <a:pPr>
              <a:spcBef>
                <a:spcPts val="600"/>
              </a:spcBef>
            </a:pPr>
            <a:r>
              <a:rPr sz="4400" b="1" i="0">
                <a:solidFill>
                  <a:srgbClr val="FFFFFF"/>
                </a:solidFill>
                <a:latin typeface="Georgia"/>
              </a:rPr>
              <a:t>Jurídico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600" b="0" i="0">
                <a:solidFill>
                  <a:srgbClr val="C9C4B8"/>
                </a:solidFill>
                <a:latin typeface="Calibri"/>
              </a:rPr>
              <a:t>O advogado consultivo interno que a PME nunca teve à mão. Gera e analisa contratos, aponta risco e oportunidade legal — do lado de dentro da linha da OAB.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30–31  ·  PILAR 3 · GJ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Gerar, analisar, orientar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Gera minutas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serviço, fornecimento, locação, trabalho, parceria, NDA, societário, termos de uso/privacidade.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Sai preenchida com os dados da empresa e cláusulas calibradas para o lado do cliente.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Analisa contratos recebidos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mapa de risco, incoerências e lacunas, tradução das cláusulas críticas, contraproposta.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Oportunidades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regime mais eficiente, créditos não aproveitados, benefícios setoriais, impacto IBS/CBS.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Consulta livre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“posso demitir por justa causa?”, ancorada no dado da própria empresa.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32–33  ·  PILAR 3 · GJ</a:t>
            </a:r>
          </a:p>
          <a:p>
            <a:pPr>
              <a:spcAft>
                <a:spcPts val="600"/>
              </a:spcAft>
            </a:pPr>
            <a:r>
              <a:rPr sz="2800" b="1" i="0">
                <a:solidFill>
                  <a:srgbClr val="151515"/>
                </a:solidFill>
                <a:latin typeface="Georgia"/>
              </a:rPr>
              <a:t>Fronteira da OAB · custo · 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Fronteira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Lei 8.906/1994: postulação e advocacia são privativas de inscrito na OAB.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Faz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minutas a partir de modelos de advogado, análise e tradução, informação sobre legislação, organização do dado.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Não faz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não postula em juízo, não emite parecer como peça assinada pelo sistema, não se apresenta como escritório.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Comparativo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Advogado Empresarial consultivo: R$ 16.122,33/mês → economia R$ 12.622,33 (78,3%).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Mercado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190+ legaltechs, R$ 700 mi aportados, 3 em 4 profissionais já usam IA — mas vendem para o escritório, não para o dono.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 spc="300">
                <a:solidFill>
                  <a:srgbClr val="C9A227"/>
                </a:solidFill>
                <a:latin typeface="Calibri"/>
              </a:rPr>
              <a:t>Parte VI  ·  Código GM</a:t>
            </a:r>
          </a:p>
          <a:p>
            <a:pPr>
              <a:spcBef>
                <a:spcPts val="600"/>
              </a:spcBef>
            </a:pPr>
            <a:r>
              <a:rPr sz="4400" b="1" i="0">
                <a:solidFill>
                  <a:srgbClr val="FFFFFF"/>
                </a:solidFill>
                <a:latin typeface="Georgia"/>
              </a:rPr>
              <a:t>Marketing e Vendas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600" b="0" i="0">
                <a:solidFill>
                  <a:srgbClr val="C9C4B8"/>
                </a:solidFill>
                <a:latin typeface="Calibri"/>
              </a:rPr>
              <a:t>A agência e o comercial por dentro do sistema. Conteúdo, tráfego pago com o cliente dono do gerenciador, e um agente de IA no primeiro atendimento do WhatsApp.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34–35  ·  PILAR 4 · GM</a:t>
            </a:r>
          </a:p>
          <a:p>
            <a:pPr>
              <a:spcAft>
                <a:spcPts val="600"/>
              </a:spcAft>
            </a:pPr>
            <a:r>
              <a:rPr sz="2900" b="1" i="0">
                <a:solidFill>
                  <a:srgbClr val="151515"/>
                </a:solidFill>
                <a:latin typeface="Georgia"/>
              </a:rPr>
              <a:t>A agência por dentro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Conteúdo e social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linha editorial, calendário, posts, legendas, roteiros; leitura do que funcionou.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Tráfego pago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campanha em Meta e Google, custo por resultado, relatório em língua de dono.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Verba de mídia é do cliente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ele é dono do Business Manager e paga a plataforma direto.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Agente comercial de IA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WhatsApp Business Cloud API (~R$ 0,15/conversa, ~1.000 grátis/mês; ajuste da Meta em 01/out/2026).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Assessoria externa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só para campanha específica de grande porte.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8869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36  ·  PILAR 4 · GM</a:t>
            </a:r>
          </a:p>
          <a:p>
            <a:pPr>
              <a:spcAft>
                <a:spcPts val="600"/>
              </a:spcAft>
            </a:pPr>
            <a:r>
              <a:rPr sz="2800" b="1" i="0">
                <a:solidFill>
                  <a:srgbClr val="151515"/>
                </a:solidFill>
                <a:latin typeface="Georgia"/>
              </a:rPr>
              <a:t>Comparativo de custo do Pilar 4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64208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847088"/>
          <a:ext cx="1042416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0880"/>
                <a:gridCol w="338328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Cargo interno equivalente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51515"/>
                          </a:solidFill>
                          <a:latin typeface="Calibri"/>
                        </a:rPr>
                        <a:t>Custo total /mês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Analista de Marketing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R$ 8.755,79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Gerente de Tráfego Pago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R$ 10.981,26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SDR / pré-vendas (premissa)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0">
                          <a:solidFill>
                            <a:srgbClr val="33352F"/>
                          </a:solidFill>
                          <a:latin typeface="Calibri"/>
                        </a:rPr>
                        <a:t>R$ 6.300,00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Total da equipe interna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R$ 26.037,05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Economia mensal vs OCEO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R$ 22.537,05  (86,6%)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Payback do setup só com o Pilar 4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 b="1">
                          <a:solidFill>
                            <a:srgbClr val="151515"/>
                          </a:solidFill>
                          <a:latin typeface="Calibri"/>
                        </a:rPr>
                        <a:t>≈ 17 dias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321808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Não inclui a verba de mídia (paga pelo cliente à plataforma) nem o WhatsApp acima da franquia (repassado).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≈ 79% das empresas brasileiras usam o WhatsApp para falar com clientes.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6517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2880360"/>
            <a:ext cx="100584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 i="0" spc="300">
                <a:solidFill>
                  <a:srgbClr val="C9A227"/>
                </a:solidFill>
                <a:latin typeface="Calibri"/>
              </a:rPr>
              <a:t>Parte VII  ·  Código GI</a:t>
            </a:r>
          </a:p>
          <a:p>
            <a:pPr>
              <a:spcBef>
                <a:spcPts val="600"/>
              </a:spcBef>
            </a:pPr>
            <a:r>
              <a:rPr sz="4400" b="1" i="0">
                <a:solidFill>
                  <a:srgbClr val="FFFFFF"/>
                </a:solidFill>
                <a:latin typeface="Georgia"/>
              </a:rPr>
              <a:t>Educação Pré-Investimento</a:t>
            </a:r>
          </a:p>
          <a:p>
            <a:pPr>
              <a:lnSpc>
                <a:spcPct val="120000"/>
              </a:lnSpc>
              <a:spcBef>
                <a:spcPts val="1000"/>
              </a:spcBef>
            </a:pPr>
            <a:r>
              <a:rPr sz="1600" b="0" i="0">
                <a:solidFill>
                  <a:srgbClr val="C9C4B8"/>
                </a:solidFill>
                <a:latin typeface="Calibri"/>
              </a:rPr>
              <a:t>O último pilar a entrar — e só depois da reserva formada. Ensina, em rota educacional e genérica, o universo de produtos. Sem individualizar, sem corretora, sem comissão.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37–38  ·  PILAR 5 · GI</a:t>
            </a:r>
          </a:p>
          <a:p>
            <a:pPr>
              <a:spcAft>
                <a:spcPts val="600"/>
              </a:spcAft>
            </a:pPr>
            <a:r>
              <a:rPr sz="2900" b="1" i="0">
                <a:solidFill>
                  <a:srgbClr val="151515"/>
                </a:solidFill>
                <a:latin typeface="Georgia"/>
              </a:rPr>
              <a:t>Gatilho, perfil, universo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Mudança de nome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de “Criação de Renda Passiva” para “Educação Pré-Investimento”: não promete renda, não aloca.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Gatilho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reserva-alvo completa + caixa livre com margem (piso: ≥ 10% do caixa livre destinável).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Perfil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conservador / moderado / arrojado, de forma educativa e não vinculante.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Universo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renda fixa, renda variável, fundos, criptoativos, previdência; instituições só como exemplo.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Ferramentas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estudo sobre dado público (ex.: Fibonacci em série histórica). Disclaimer em toda saída.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39–40  ·  PILAR 5 · GI</a:t>
            </a:r>
          </a:p>
          <a:p>
            <a:pPr>
              <a:spcAft>
                <a:spcPts val="600"/>
              </a:spcAft>
            </a:pPr>
            <a:r>
              <a:rPr sz="2800" b="1" i="0">
                <a:solidFill>
                  <a:srgbClr val="151515"/>
                </a:solidFill>
                <a:latin typeface="Georgia"/>
              </a:rPr>
              <a:t>Fronteira da CVM · custo · mercado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Fronteira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Resoluções CVM 19 e 21/2021: recomendação por perfil = consultoria regulada; AAI = 1 corretora por vez.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Decisão de escopo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rota educacional genérica pura: não individualiza, não recomenda, não vincula corretora, não recebe comissão.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Se algum dia houver recomendação individualizada, será serviço separado, com registro próprio.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Comparativo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Analista de Fundos: R$ 9.604,31/mês → economia R$ 6.104,31 (63,6%) — o comparativo mais artificial dos cinco.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Mercado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B3 Educação (500+ conteúdos), escolas de investimento, robo-advisors com registro CVM.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30352"/>
            <a:ext cx="8869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PARTE VIII</a:t>
            </a:r>
          </a:p>
          <a:p>
            <a:pPr>
              <a:spcAft>
                <a:spcPts val="600"/>
              </a:spcAft>
            </a:pPr>
            <a:r>
              <a:rPr sz="2800" b="1" i="0">
                <a:solidFill>
                  <a:srgbClr val="151515"/>
                </a:solidFill>
                <a:latin typeface="Georgia"/>
              </a:rPr>
              <a:t>O comparativo central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664208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41248" y="1847088"/>
          <a:ext cx="1042416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0880"/>
                <a:gridCol w="338328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51515"/>
                          </a:solidFill>
                          <a:latin typeface="Calibri"/>
                        </a:rPr>
                        <a:t>Pilar · cargo(s) interno(s) equivalente(s)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151515"/>
                          </a:solidFill>
                          <a:latin typeface="Calibri"/>
                        </a:rPr>
                        <a:t>Custo total /mês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GC · Contábil + Fiscal + DP + R&amp;S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R$ 30.834,39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GF · Analista Financeiro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R$ 8.789,90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GJ · Advogado Empresarial consultivo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R$ 16.122,33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GM · Marketing + Tráfego + SDR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R$ 26.037,05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GI · Analista de Fundos / Educação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52F"/>
                          </a:solidFill>
                          <a:latin typeface="Calibri"/>
                        </a:rPr>
                        <a:t>R$ 9.604,31</a:t>
                      </a:r>
                    </a:p>
                  </a:txBody>
                  <a:tcPr marL="128016" marR="128016" marT="27432" marB="27432" anchor="ctr">
                    <a:solidFill>
                      <a:srgbClr val="F4F1E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Estrutura interna equivalente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R$ 91.387,98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OCEO — mensalidade única, 5 pilares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R$ 3.500,00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Economia mensal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R$ 87.887,98  (96,2%)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Economia em 12 meses  ·  payback do setup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51515"/>
                          </a:solidFill>
                          <a:latin typeface="Calibri"/>
                        </a:rPr>
                        <a:t>≈ R$ 1.054.656   ·   ≈ 4 dias</a:t>
                      </a:r>
                    </a:p>
                  </a:txBody>
                  <a:tcPr marL="128016" marR="128016" marT="27432" marB="27432" anchor="ctr">
                    <a:solidFill>
                      <a:srgbClr val="EFE9D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" y="5879592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“R$ 91.387 por mês para ter tudo isso dentro de casa. Ou R$ 3.500.” — cena 5 do vídeo.</a:t>
            </a:r>
          </a:p>
          <a:p>
            <a:pPr>
              <a:lnSpc>
                <a:spcPct val="110000"/>
              </a:lnSpc>
            </a:pPr>
            <a:r>
              <a:rPr sz="1000" b="0" i="0">
                <a:solidFill>
                  <a:srgbClr val="8A8374"/>
                </a:solidFill>
                <a:latin typeface="Calibri"/>
              </a:rPr>
              <a:t>É a substituição de uma estrutura que a maioria das PMEs nunca poderia bancar — e por isso não tem.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presetID="10" presetClass="entr" presetSubtype="0" fill="hold" grpId="0" nodeType="afterEffect">
                            <p:stCondLst>
                              <p:cond delay="50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" dur="4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44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Mercado e a janela da reforma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Mercado global de ERP: US$ 70–90 bi/ano, crescendo ≈ 10% a.a.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Brasil: SAP e Totvs ≈ 34% cada, Oracle ≈ 10% — juntos ≈ 77%. No recorte PME, Totvs ≈ 53%.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O OCEO não disputa o cliente da SAP — atende a base larga e desassistida abaixo desse recorte.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A janela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reforma tributária (IBS/CBS): nos próximos ≈ 24 meses, toda PME vai precisar entender o que muda.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45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Modelo de negócio e escala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Receita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setup R$ 12.500 + mensalidade R$ 3.500/mês + repasse de custo variável identificado.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Custo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dominado pelo time de especialistas do Grupo Sena + infraestrutura + terceiros.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Premissa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custo fixo operacional da ordem de R$ 150.000/mês (a validar).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Escala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regras, modelos e trilhas construídos uma vez e reaproveitados: custo incremental por cliente cai.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46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As premissas do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Custo fixo operacional (≈ R$ 150 mil/mês) · CAC · churn · ponto de equilíbrio — não medidos.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Encargos de 80% e 1 pessoa por cargo nos comparativos.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Salário de Analista de DP e de SDR — por proporção, sem piso CAGED isolável.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Viabilidade e custo da integração Open Finance em escala.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Custo variável do WhatsApp dentro da margem.</a:t>
            </a:r>
          </a:p>
          <a:p>
            <a:pPr>
              <a:spcBef>
                <a:spcPts val="600"/>
              </a:spcBef>
            </a:pPr>
            <a:r>
              <a:rPr sz="1300" b="1" i="0">
                <a:solidFill>
                  <a:srgbClr val="C9A227"/>
                </a:solidFill>
                <a:latin typeface="Calibri"/>
              </a:rPr>
              <a:t>Onde a premissa aparece, o valor assumido está escrito. Quem discorda troca o número.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CAPÍTULO 47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i="0" spc="200">
                <a:solidFill>
                  <a:srgbClr val="C9A227"/>
                </a:solidFill>
                <a:latin typeface="Calibri"/>
              </a:rPr>
              <a:t>Já existe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Concepção completa dos 5 pilares · camada contábil do Pilar 1 em produção (9 painéis).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Plano de negócio, pitch de BI, vídeo institucional · marca e domínio · versão Portugal.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1" i="0" spc="200">
                <a:solidFill>
                  <a:srgbClr val="C9A227"/>
                </a:solidFill>
                <a:latin typeface="Calibri"/>
              </a:rPr>
              <a:t>Falta construir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Fiscal, DP, RH e Legalização do Pilar 1 em produção · Open Finance validada.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Arranjo com advogado parceiro · custo do WhatsApp na margem · disclaimer do Pilar 5.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—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Regerar o plano geral de 27 páginas · validar as premissas com clientes reais.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PARTE X  ·  CAPÍTULO 48</a:t>
            </a:r>
          </a:p>
          <a:p>
            <a:pPr>
              <a:spcAft>
                <a:spcPts val="600"/>
              </a:spcAft>
            </a:pPr>
            <a:r>
              <a:rPr sz="2600" b="1" i="0">
                <a:solidFill>
                  <a:srgbClr val="151515"/>
                </a:solidFill>
                <a:latin typeface="Georgia"/>
              </a:rPr>
              <a:t>Roteiro do vídeo institucional — 7 cenas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51515"/>
                </a:solidFill>
                <a:latin typeface="Calibri"/>
              </a:rPr>
              <a:t>1 · Abertura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“O sistema orienta. Você decide.”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51515"/>
                </a:solidFill>
                <a:latin typeface="Calibri"/>
              </a:rPr>
              <a:t>2 · Problema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“A pequena empresa administra no escuro.” + dados SEBRAE.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51515"/>
                </a:solidFill>
                <a:latin typeface="Calibri"/>
              </a:rPr>
              <a:t>3 · Solução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“Um sistema. Cinco frentes. Uma mensalidade.”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51515"/>
                </a:solidFill>
                <a:latin typeface="Calibri"/>
              </a:rPr>
              <a:t>4 · Os 5 pilares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cada um com descrição + “substitui equipe → R$ X/mês”.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51515"/>
                </a:solidFill>
                <a:latin typeface="Calibri"/>
              </a:rPr>
              <a:t>5 · Comparativo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“R$ 91.387 por mês. Ou R$ 3.500.”  —  96,2%, payback ≈ 4 dias.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51515"/>
                </a:solidFill>
                <a:latin typeface="Calibri"/>
              </a:rPr>
              <a:t>6 · Mercado e modelo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ERP US$ 71–92 bi; alvo PME R$ 50 mil+/mês; badge “premissa” em CAC/churn/PE.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1" i="0">
                <a:solidFill>
                  <a:srgbClr val="151515"/>
                </a:solidFill>
                <a:latin typeface="Calibri"/>
              </a:rPr>
              <a:t>7 · Fecho  </a:t>
            </a:r>
            <a:r>
              <a:rPr sz="1400" b="0" i="0">
                <a:solidFill>
                  <a:srgbClr val="33352F"/>
                </a:solidFill>
                <a:latin typeface="Calibri"/>
              </a:rPr>
              <a:t>“Administrar com o número na mão.”  —  www.oceo.com.br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66928"/>
            <a:ext cx="88696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 i="0" spc="240">
                <a:solidFill>
                  <a:srgbClr val="C9A227"/>
                </a:solidFill>
                <a:latin typeface="Calibri"/>
              </a:rPr>
              <a:t>PARTE XI  ·  CAPÍTULO 49</a:t>
            </a:r>
          </a:p>
          <a:p>
            <a:pPr>
              <a:spcAft>
                <a:spcPts val="600"/>
              </a:spcAft>
            </a:pPr>
            <a:r>
              <a:rPr sz="3000" b="1" i="0">
                <a:solidFill>
                  <a:srgbClr val="151515"/>
                </a:solidFill>
                <a:latin typeface="Georgia"/>
              </a:rPr>
              <a:t>A marca OCEO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65960"/>
            <a:ext cx="201168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33272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O nome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evoca oceano (a massa de água que o dono navega) e contrai “o CEO” (quem comanda).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O símbolo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um anel (o ciclo de gestão que se fecha) com uma seta ascendente em colunas (o BI). Diz: dado que vira direção.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Cores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cromo/prata (a estrutura), dourado (o resultado), azul-marinho profundo (o oceano).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51515"/>
                </a:solidFill>
                <a:latin typeface="Calibri"/>
              </a:rPr>
              <a:t>Situação  </a:t>
            </a:r>
            <a:r>
              <a:rPr sz="1600" b="0" i="0">
                <a:solidFill>
                  <a:srgbClr val="33352F"/>
                </a:solidFill>
                <a:latin typeface="Calibri"/>
              </a:rPr>
              <a:t>— domínio www.oceo.com.br registrado; marca OCEO em processo no INPI.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6" presetID="10" presetClass="entr" presetSubtype="0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presetID="10" presetClass="entr" presetSubtype="0" fill="hold" grpId="0" nodeType="afterEffect">
                            <p:stCondLst>
                              <p:cond delay="25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" dur="4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OC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47" y="1143000"/>
            <a:ext cx="3200400" cy="25820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4343400"/>
            <a:ext cx="9418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Administrar com o número na mão.</a:t>
            </a:r>
          </a:p>
          <a:p>
            <a:pPr algn="ctr">
              <a:spcBef>
                <a:spcPts val="1200"/>
              </a:spcBef>
            </a:pPr>
            <a:r>
              <a:rPr sz="1600" b="1" i="0" spc="150">
                <a:solidFill>
                  <a:srgbClr val="C9A227"/>
                </a:solidFill>
                <a:latin typeface="Calibri"/>
              </a:rPr>
              <a:t>www.oceo.com.br</a:t>
            </a:r>
          </a:p>
          <a:p>
            <a:pPr algn="ctr">
              <a:spcBef>
                <a:spcPts val="1400"/>
              </a:spcBef>
            </a:pPr>
            <a:r>
              <a:rPr sz="1100" b="0" i="0">
                <a:solidFill>
                  <a:srgbClr val="8A8374"/>
                </a:solidFill>
                <a:latin typeface="Calibri"/>
              </a:rPr>
              <a:t>Gilberto Luís de Sena  ·  Grupo Sena — Soluções Empresariais  ·  setembro de 2026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afterEffect">
                      <p:stCondLst>
                        <p:cond delay="0"/>
                      </p:stCondLst>
                      <p:childTnLst>
                        <p:par>
                          <p:cTn id="8" presetID="23" presetClass="entr" presetSubtype="16" fill="hold" grpId="0" nodeType="after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5" dur="600" fill="hold"/>
                                  <p:tgtEl>
                                    <p:spTgt spid="3"/>
                                  </p:tgtEl>
                                  <p:attrNameLst>
                                    <p:attrName>ppt_w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6" dur="600" fill="hold"/>
                                  <p:tgtEl>
                                    <p:spTgt spid="3"/>
                                  </p:tgtEl>
                                  <p:attrNameLst>
                                    <p:attrName>ppt_h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fltVal val="0.3"/>
                                    </p:val>
                                  </p:tav>
                                  <p:tav tm="100000">
                                    <p:val>
                                      <p:fltVal val="1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7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presetID="10" presetClass="entr" presetSubtype="0" fill="hold" grpId="0" nodeType="afterEffect">
                            <p:stCondLst>
                              <p:cond delay="35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" dur="40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